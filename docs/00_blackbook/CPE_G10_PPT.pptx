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2" r:id="rId2"/>
    <p:sldId id="257" r:id="rId3"/>
    <p:sldId id="258" r:id="rId4"/>
    <p:sldId id="259" r:id="rId5"/>
    <p:sldId id="260" r:id="rId6"/>
    <p:sldId id="265" r:id="rId7"/>
    <p:sldId id="273" r:id="rId8"/>
    <p:sldId id="274" r:id="rId9"/>
    <p:sldId id="271" r:id="rId10"/>
    <p:sldId id="266" r:id="rId11"/>
    <p:sldId id="261" r:id="rId12"/>
    <p:sldId id="262" r:id="rId13"/>
    <p:sldId id="267" r:id="rId14"/>
    <p:sldId id="268" r:id="rId15"/>
    <p:sldId id="269" r:id="rId16"/>
    <p:sldId id="270" r:id="rId17"/>
    <p:sldId id="263"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917"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943861" y="1671904"/>
            <a:ext cx="8401685" cy="848994"/>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dirty="0"/>
              <a:t>Seminar</a:t>
            </a:r>
            <a:r>
              <a:rPr spc="-45" dirty="0"/>
              <a:t> </a:t>
            </a:r>
            <a:r>
              <a:rPr dirty="0"/>
              <a:t>and</a:t>
            </a:r>
            <a:r>
              <a:rPr spc="-35" dirty="0"/>
              <a:t> </a:t>
            </a:r>
            <a:r>
              <a:rPr dirty="0"/>
              <a:t>Project</a:t>
            </a:r>
            <a:r>
              <a:rPr spc="-45" dirty="0"/>
              <a:t> </a:t>
            </a:r>
            <a:r>
              <a:rPr spc="-10" dirty="0"/>
              <a:t>Initiation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Trebuchet MS"/>
                <a:cs typeface="Trebuchet MS"/>
              </a:defRPr>
            </a:lvl1pPr>
          </a:lstStyle>
          <a:p>
            <a:pPr marL="38100">
              <a:lnSpc>
                <a:spcPts val="215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dirty="0"/>
              <a:t>Seminar</a:t>
            </a:r>
            <a:r>
              <a:rPr spc="-45" dirty="0"/>
              <a:t> </a:t>
            </a:r>
            <a:r>
              <a:rPr dirty="0"/>
              <a:t>and</a:t>
            </a:r>
            <a:r>
              <a:rPr spc="-35" dirty="0"/>
              <a:t> </a:t>
            </a:r>
            <a:r>
              <a:rPr dirty="0"/>
              <a:t>Project</a:t>
            </a:r>
            <a:r>
              <a:rPr spc="-45" dirty="0"/>
              <a:t> </a:t>
            </a:r>
            <a:r>
              <a:rPr spc="-10" dirty="0"/>
              <a:t>Initiation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Trebuchet MS"/>
                <a:cs typeface="Trebuchet MS"/>
              </a:defRPr>
            </a:lvl1pPr>
          </a:lstStyle>
          <a:p>
            <a:pPr marL="38100">
              <a:lnSpc>
                <a:spcPts val="215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dirty="0"/>
              <a:t>Seminar</a:t>
            </a:r>
            <a:r>
              <a:rPr spc="-45" dirty="0"/>
              <a:t> </a:t>
            </a:r>
            <a:r>
              <a:rPr dirty="0"/>
              <a:t>and</a:t>
            </a:r>
            <a:r>
              <a:rPr spc="-35" dirty="0"/>
              <a:t> </a:t>
            </a:r>
            <a:r>
              <a:rPr dirty="0"/>
              <a:t>Project</a:t>
            </a:r>
            <a:r>
              <a:rPr spc="-45" dirty="0"/>
              <a:t> </a:t>
            </a:r>
            <a:r>
              <a:rPr spc="-10" dirty="0"/>
              <a:t>Initiation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Trebuchet MS"/>
                <a:cs typeface="Trebuchet MS"/>
              </a:defRPr>
            </a:lvl1pPr>
          </a:lstStyle>
          <a:p>
            <a:pPr marL="38100">
              <a:lnSpc>
                <a:spcPts val="215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dirty="0"/>
              <a:t>Seminar</a:t>
            </a:r>
            <a:r>
              <a:rPr spc="-45" dirty="0"/>
              <a:t> </a:t>
            </a:r>
            <a:r>
              <a:rPr dirty="0"/>
              <a:t>and</a:t>
            </a:r>
            <a:r>
              <a:rPr spc="-35" dirty="0"/>
              <a:t> </a:t>
            </a:r>
            <a:r>
              <a:rPr dirty="0"/>
              <a:t>Project</a:t>
            </a:r>
            <a:r>
              <a:rPr spc="-45" dirty="0"/>
              <a:t> </a:t>
            </a:r>
            <a:r>
              <a:rPr spc="-10" dirty="0"/>
              <a:t>Initiation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Trebuchet MS"/>
                <a:cs typeface="Trebuchet MS"/>
              </a:defRPr>
            </a:lvl1pPr>
          </a:lstStyle>
          <a:p>
            <a:pPr marL="38100">
              <a:lnSpc>
                <a:spcPts val="215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dirty="0"/>
              <a:t>Seminar</a:t>
            </a:r>
            <a:r>
              <a:rPr spc="-45" dirty="0"/>
              <a:t> </a:t>
            </a:r>
            <a:r>
              <a:rPr dirty="0"/>
              <a:t>and</a:t>
            </a:r>
            <a:r>
              <a:rPr spc="-35" dirty="0"/>
              <a:t> </a:t>
            </a:r>
            <a:r>
              <a:rPr dirty="0"/>
              <a:t>Project</a:t>
            </a:r>
            <a:r>
              <a:rPr spc="-45" dirty="0"/>
              <a:t> </a:t>
            </a:r>
            <a:r>
              <a:rPr spc="-10" dirty="0"/>
              <a:t>Initiation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Trebuchet MS"/>
                <a:cs typeface="Trebuchet MS"/>
              </a:defRPr>
            </a:lvl1pPr>
          </a:lstStyle>
          <a:p>
            <a:pPr marL="38100">
              <a:lnSpc>
                <a:spcPts val="215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3242" y="890143"/>
            <a:ext cx="11005515" cy="109799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70991" y="2464307"/>
            <a:ext cx="10639425" cy="34061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708016" y="6472732"/>
            <a:ext cx="2776854" cy="27876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pPr marL="12700">
              <a:lnSpc>
                <a:spcPts val="2065"/>
              </a:lnSpc>
            </a:pPr>
            <a:r>
              <a:rPr dirty="0"/>
              <a:t>Seminar</a:t>
            </a:r>
            <a:r>
              <a:rPr spc="-45" dirty="0"/>
              <a:t> </a:t>
            </a:r>
            <a:r>
              <a:rPr dirty="0"/>
              <a:t>and</a:t>
            </a:r>
            <a:r>
              <a:rPr spc="-35" dirty="0"/>
              <a:t> </a:t>
            </a:r>
            <a:r>
              <a:rPr dirty="0"/>
              <a:t>Project</a:t>
            </a:r>
            <a:r>
              <a:rPr spc="-45" dirty="0"/>
              <a:t> </a:t>
            </a:r>
            <a:r>
              <a:rPr spc="-10" dirty="0"/>
              <a:t>Initiation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6" name="Holder 6"/>
          <p:cNvSpPr>
            <a:spLocks noGrp="1"/>
          </p:cNvSpPr>
          <p:nvPr>
            <p:ph type="sldNum" sz="quarter" idx="7"/>
          </p:nvPr>
        </p:nvSpPr>
        <p:spPr>
          <a:xfrm>
            <a:off x="11717781" y="6406319"/>
            <a:ext cx="332740" cy="304800"/>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pPr marL="38100">
              <a:lnSpc>
                <a:spcPts val="215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87;p41">
            <a:extLst>
              <a:ext uri="{FF2B5EF4-FFF2-40B4-BE49-F238E27FC236}">
                <a16:creationId xmlns:a16="http://schemas.microsoft.com/office/drawing/2014/main" id="{9B2129D5-3295-50A3-CB3A-EC7B26CEACBF}"/>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5" name="Google Shape;287;p41">
            <a:extLst>
              <a:ext uri="{FF2B5EF4-FFF2-40B4-BE49-F238E27FC236}">
                <a16:creationId xmlns:a16="http://schemas.microsoft.com/office/drawing/2014/main" id="{9C652C10-9BAE-79C1-AA14-CB51588CD6AB}"/>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sp>
        <p:nvSpPr>
          <p:cNvPr id="13" name="TextBox 12">
            <a:extLst>
              <a:ext uri="{FF2B5EF4-FFF2-40B4-BE49-F238E27FC236}">
                <a16:creationId xmlns:a16="http://schemas.microsoft.com/office/drawing/2014/main" id="{961B6E50-721C-3816-8EDF-BCCEADDCB2FA}"/>
              </a:ext>
            </a:extLst>
          </p:cNvPr>
          <p:cNvSpPr txBox="1"/>
          <p:nvPr/>
        </p:nvSpPr>
        <p:spPr>
          <a:xfrm>
            <a:off x="2665770" y="1663122"/>
            <a:ext cx="6860459" cy="970009"/>
          </a:xfrm>
          <a:prstGeom prst="rect">
            <a:avLst/>
          </a:prstGeom>
          <a:noFill/>
        </p:spPr>
        <p:txBody>
          <a:bodyPr wrap="square">
            <a:spAutoFit/>
          </a:bodyPr>
          <a:lstStyle/>
          <a:p>
            <a:pPr algn="ctr">
              <a:lnSpc>
                <a:spcPct val="150000"/>
              </a:lnSpc>
            </a:pPr>
            <a:r>
              <a:rPr lang="en-IN" sz="2400" dirty="0">
                <a:latin typeface="Cambria" panose="02040503050406030204" charset="0"/>
                <a:cs typeface="Cambria" panose="02040503050406030204" charset="0"/>
              </a:rPr>
              <a:t>DEPARTMENT OF COMPUTER ENGINEERING</a:t>
            </a:r>
          </a:p>
          <a:p>
            <a:pPr algn="ctr">
              <a:lnSpc>
                <a:spcPct val="150000"/>
              </a:lnSpc>
            </a:pPr>
            <a:r>
              <a:rPr lang="en-IN" sz="1600" dirty="0">
                <a:latin typeface="Cambria" panose="02040503050406030204" charset="0"/>
                <a:cs typeface="Cambria" panose="02040503050406030204" charset="0"/>
              </a:rPr>
              <a:t>[A.Y. 2025-2026]</a:t>
            </a:r>
          </a:p>
        </p:txBody>
      </p:sp>
      <p:sp>
        <p:nvSpPr>
          <p:cNvPr id="14" name="TextBox 13">
            <a:extLst>
              <a:ext uri="{FF2B5EF4-FFF2-40B4-BE49-F238E27FC236}">
                <a16:creationId xmlns:a16="http://schemas.microsoft.com/office/drawing/2014/main" id="{E26864E9-9E7F-42C2-765C-B45ADB77CBBC}"/>
              </a:ext>
            </a:extLst>
          </p:cNvPr>
          <p:cNvSpPr txBox="1"/>
          <p:nvPr/>
        </p:nvSpPr>
        <p:spPr>
          <a:xfrm>
            <a:off x="3608437" y="2879507"/>
            <a:ext cx="4817807"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A PRESENTATION ON</a:t>
            </a:r>
            <a:endParaRPr lang="en-IN" dirty="0"/>
          </a:p>
          <a:p>
            <a:pPr algn="ctr"/>
            <a:r>
              <a:rPr lang="en-IN" dirty="0"/>
              <a:t>“ </a:t>
            </a:r>
            <a:r>
              <a:rPr lang="en-IN" dirty="0">
                <a:latin typeface="Arial Black" panose="020B0A04020102020204" pitchFamily="34" charset="0"/>
              </a:rPr>
              <a:t>OBE TRACKING SYSTEM</a:t>
            </a:r>
            <a:r>
              <a:rPr lang="en-IN" dirty="0"/>
              <a:t> ”</a:t>
            </a:r>
          </a:p>
        </p:txBody>
      </p:sp>
      <p:sp>
        <p:nvSpPr>
          <p:cNvPr id="15" name="TextBox 14">
            <a:extLst>
              <a:ext uri="{FF2B5EF4-FFF2-40B4-BE49-F238E27FC236}">
                <a16:creationId xmlns:a16="http://schemas.microsoft.com/office/drawing/2014/main" id="{EDD22340-E390-984C-5DF3-2C1BF9465909}"/>
              </a:ext>
            </a:extLst>
          </p:cNvPr>
          <p:cNvSpPr txBox="1"/>
          <p:nvPr/>
        </p:nvSpPr>
        <p:spPr>
          <a:xfrm>
            <a:off x="3942733" y="3957651"/>
            <a:ext cx="4149213" cy="1477328"/>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Presented By,</a:t>
            </a:r>
          </a:p>
          <a:p>
            <a:pPr algn="ctr"/>
            <a:r>
              <a:rPr lang="en-IN" dirty="0">
                <a:latin typeface="Times New Roman" panose="02020603050405020304" pitchFamily="18" charset="0"/>
                <a:cs typeface="Times New Roman" panose="02020603050405020304" pitchFamily="18" charset="0"/>
              </a:rPr>
              <a:t>HANDE SALONI</a:t>
            </a:r>
          </a:p>
          <a:p>
            <a:pPr algn="ctr"/>
            <a:r>
              <a:rPr lang="en-IN" dirty="0">
                <a:latin typeface="Times New Roman" panose="02020603050405020304" pitchFamily="18" charset="0"/>
                <a:cs typeface="Times New Roman" panose="02020603050405020304" pitchFamily="18" charset="0"/>
              </a:rPr>
              <a:t>SHAIKH FARHEEN</a:t>
            </a:r>
          </a:p>
          <a:p>
            <a:pPr algn="ctr"/>
            <a:r>
              <a:rPr lang="en-IN" dirty="0">
                <a:latin typeface="Times New Roman" panose="02020603050405020304" pitchFamily="18" charset="0"/>
                <a:cs typeface="Times New Roman" panose="02020603050405020304" pitchFamily="18" charset="0"/>
              </a:rPr>
              <a:t>NIGAL KHUSHI</a:t>
            </a:r>
          </a:p>
          <a:p>
            <a:pPr algn="ctr"/>
            <a:r>
              <a:rPr lang="en-IN" dirty="0">
                <a:latin typeface="Times New Roman" panose="02020603050405020304" pitchFamily="18" charset="0"/>
                <a:cs typeface="Times New Roman" panose="02020603050405020304" pitchFamily="18" charset="0"/>
              </a:rPr>
              <a:t>DEORE GAYATRI</a:t>
            </a:r>
          </a:p>
        </p:txBody>
      </p:sp>
      <p:sp>
        <p:nvSpPr>
          <p:cNvPr id="16" name="TextBox 15">
            <a:extLst>
              <a:ext uri="{FF2B5EF4-FFF2-40B4-BE49-F238E27FC236}">
                <a16:creationId xmlns:a16="http://schemas.microsoft.com/office/drawing/2014/main" id="{A188F3DD-2E17-97CF-F569-A8EB2F7EF21E}"/>
              </a:ext>
            </a:extLst>
          </p:cNvPr>
          <p:cNvSpPr txBox="1"/>
          <p:nvPr/>
        </p:nvSpPr>
        <p:spPr>
          <a:xfrm>
            <a:off x="3571565" y="5649535"/>
            <a:ext cx="4891548" cy="923330"/>
          </a:xfrm>
          <a:prstGeom prst="rect">
            <a:avLst/>
          </a:prstGeom>
          <a:noFill/>
        </p:spPr>
        <p:txBody>
          <a:bodyPr wrap="square" rtlCol="0">
            <a:spAutoFit/>
          </a:bodyPr>
          <a:lstStyle/>
          <a:p>
            <a:pPr algn="ctr"/>
            <a:r>
              <a:rPr lang="en-IN" b="1" dirty="0"/>
              <a:t>Under the guidance of,</a:t>
            </a:r>
          </a:p>
          <a:p>
            <a:pPr algn="ctr"/>
            <a:r>
              <a:rPr lang="en-IN" dirty="0"/>
              <a:t> MR. Y. N. JADHAV</a:t>
            </a:r>
          </a:p>
          <a:p>
            <a:endParaRPr lang="en-IN" dirty="0"/>
          </a:p>
        </p:txBody>
      </p:sp>
      <p:grpSp>
        <p:nvGrpSpPr>
          <p:cNvPr id="2" name="Group 1">
            <a:extLst>
              <a:ext uri="{FF2B5EF4-FFF2-40B4-BE49-F238E27FC236}">
                <a16:creationId xmlns:a16="http://schemas.microsoft.com/office/drawing/2014/main" id="{F68A9A2E-F846-1B98-9AE0-8BD0E06693B8}"/>
              </a:ext>
            </a:extLst>
          </p:cNvPr>
          <p:cNvGrpSpPr/>
          <p:nvPr/>
        </p:nvGrpSpPr>
        <p:grpSpPr>
          <a:xfrm>
            <a:off x="9832" y="22846"/>
            <a:ext cx="12182168" cy="1598866"/>
            <a:chOff x="9832" y="22846"/>
            <a:chExt cx="12182168" cy="1598866"/>
          </a:xfrm>
        </p:grpSpPr>
        <p:pic>
          <p:nvPicPr>
            <p:cNvPr id="7" name="Picture 6">
              <a:extLst>
                <a:ext uri="{FF2B5EF4-FFF2-40B4-BE49-F238E27FC236}">
                  <a16:creationId xmlns:a16="http://schemas.microsoft.com/office/drawing/2014/main" id="{36661E01-9CE9-841B-B0BB-99A1CDA5CDC4}"/>
                </a:ext>
              </a:extLst>
            </p:cNvPr>
            <p:cNvPicPr>
              <a:picLocks noChangeAspect="1"/>
            </p:cNvPicPr>
            <p:nvPr/>
          </p:nvPicPr>
          <p:blipFill>
            <a:blip r:embed="rId3"/>
            <a:stretch>
              <a:fillRect/>
            </a:stretch>
          </p:blipFill>
          <p:spPr>
            <a:xfrm>
              <a:off x="9438967" y="372583"/>
              <a:ext cx="2330245" cy="667834"/>
            </a:xfrm>
            <a:prstGeom prst="rect">
              <a:avLst/>
            </a:prstGeom>
          </p:spPr>
        </p:pic>
        <p:sp>
          <p:nvSpPr>
            <p:cNvPr id="9" name="TextBox 8">
              <a:extLst>
                <a:ext uri="{FF2B5EF4-FFF2-40B4-BE49-F238E27FC236}">
                  <a16:creationId xmlns:a16="http://schemas.microsoft.com/office/drawing/2014/main" id="{26FE6AAB-9A71-DFBA-3BF4-44C38C7782B1}"/>
                </a:ext>
              </a:extLst>
            </p:cNvPr>
            <p:cNvSpPr txBox="1"/>
            <p:nvPr/>
          </p:nvSpPr>
          <p:spPr>
            <a:xfrm>
              <a:off x="2620297" y="113607"/>
              <a:ext cx="6794089" cy="150810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Sandip Foundation’s</a:t>
              </a:r>
            </a:p>
            <a:p>
              <a:pPr algn="ctr"/>
              <a:r>
                <a:rPr lang="en-IN" sz="3200" b="1" dirty="0">
                  <a:latin typeface="Times New Roman" panose="02020603050405020304" pitchFamily="18" charset="0"/>
                  <a:cs typeface="Times New Roman" panose="02020603050405020304" pitchFamily="18" charset="0"/>
                </a:rPr>
                <a:t>SANDIP POLYTECHNIC, NASHIK</a:t>
              </a:r>
            </a:p>
            <a:p>
              <a:pPr algn="ctr"/>
              <a:r>
                <a:rPr lang="en-IN" sz="2800" dirty="0">
                  <a:latin typeface="Times New Roman" panose="02020603050405020304" pitchFamily="18" charset="0"/>
                  <a:cs typeface="Times New Roman" panose="02020603050405020304" pitchFamily="18" charset="0"/>
                </a:rPr>
                <a:t> </a:t>
              </a:r>
              <a:endParaRPr lang="en-IN" sz="2800" b="1" dirty="0">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97AB0004-4842-6D8A-EE71-2D145B2BD814}"/>
                </a:ext>
              </a:extLst>
            </p:cNvPr>
            <p:cNvCxnSpPr>
              <a:cxnSpLocks/>
            </p:cNvCxnSpPr>
            <p:nvPr/>
          </p:nvCxnSpPr>
          <p:spPr>
            <a:xfrm>
              <a:off x="9832" y="1423021"/>
              <a:ext cx="12182168" cy="0"/>
            </a:xfrm>
            <a:prstGeom prst="line">
              <a:avLst/>
            </a:prstGeom>
            <a:ln/>
          </p:spPr>
          <p:style>
            <a:lnRef idx="3">
              <a:schemeClr val="dk1"/>
            </a:lnRef>
            <a:fillRef idx="0">
              <a:schemeClr val="dk1"/>
            </a:fillRef>
            <a:effectRef idx="2">
              <a:schemeClr val="dk1"/>
            </a:effectRef>
            <a:fontRef idx="minor">
              <a:schemeClr val="tx1"/>
            </a:fontRef>
          </p:style>
        </p:cxnSp>
        <p:pic>
          <p:nvPicPr>
            <p:cNvPr id="18" name="Picture 17">
              <a:extLst>
                <a:ext uri="{FF2B5EF4-FFF2-40B4-BE49-F238E27FC236}">
                  <a16:creationId xmlns:a16="http://schemas.microsoft.com/office/drawing/2014/main" id="{2EC641DB-3E58-B539-9F82-39E39E046C84}"/>
                </a:ext>
              </a:extLst>
            </p:cNvPr>
            <p:cNvPicPr>
              <a:picLocks noChangeAspect="1"/>
            </p:cNvPicPr>
            <p:nvPr/>
          </p:nvPicPr>
          <p:blipFill>
            <a:blip r:embed="rId4"/>
            <a:stretch>
              <a:fillRect/>
            </a:stretch>
          </p:blipFill>
          <p:spPr>
            <a:xfrm>
              <a:off x="288515" y="22846"/>
              <a:ext cx="1428750" cy="1400175"/>
            </a:xfrm>
            <a:prstGeom prst="rect">
              <a:avLst/>
            </a:prstGeom>
          </p:spPr>
        </p:pic>
      </p:grpSp>
    </p:spTree>
    <p:extLst>
      <p:ext uri="{BB962C8B-B14F-4D97-AF65-F5344CB8AC3E}">
        <p14:creationId xmlns:p14="http://schemas.microsoft.com/office/powerpoint/2010/main" val="2167786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895157" y="1722426"/>
            <a:ext cx="8401685" cy="848994"/>
          </a:xfrm>
          <a:prstGeom prst="rect">
            <a:avLst/>
          </a:prstGeom>
        </p:spPr>
        <p:txBody>
          <a:bodyPr vert="horz" wrap="square" lIns="0" tIns="12700" rIns="0" bIns="0" rtlCol="0">
            <a:spAutoFit/>
          </a:bodyPr>
          <a:lstStyle/>
          <a:p>
            <a:pPr marL="12700">
              <a:lnSpc>
                <a:spcPct val="100000"/>
              </a:lnSpc>
              <a:spcBef>
                <a:spcPts val="100"/>
              </a:spcBef>
            </a:pPr>
            <a:r>
              <a:rPr sz="5400" dirty="0"/>
              <a:t>OBE</a:t>
            </a:r>
            <a:r>
              <a:rPr sz="5400" spc="-105" dirty="0"/>
              <a:t> </a:t>
            </a:r>
            <a:r>
              <a:rPr sz="5400" dirty="0"/>
              <a:t>TRACKING </a:t>
            </a:r>
            <a:r>
              <a:rPr sz="5400" spc="-10" dirty="0"/>
              <a:t>SYSTEM</a:t>
            </a:r>
            <a:endParaRPr sz="5400" dirty="0"/>
          </a:p>
        </p:txBody>
      </p:sp>
      <p:grpSp>
        <p:nvGrpSpPr>
          <p:cNvPr id="3" name="object 3"/>
          <p:cNvGrpSpPr/>
          <p:nvPr/>
        </p:nvGrpSpPr>
        <p:grpSpPr>
          <a:xfrm>
            <a:off x="3654741" y="2937789"/>
            <a:ext cx="4882515" cy="143510"/>
            <a:chOff x="3502659" y="3145154"/>
            <a:chExt cx="4882515" cy="143510"/>
          </a:xfrm>
        </p:grpSpPr>
        <p:sp>
          <p:nvSpPr>
            <p:cNvPr id="4" name="object 4"/>
            <p:cNvSpPr/>
            <p:nvPr/>
          </p:nvSpPr>
          <p:spPr>
            <a:xfrm>
              <a:off x="3515359" y="3154679"/>
              <a:ext cx="4857115" cy="0"/>
            </a:xfrm>
            <a:custGeom>
              <a:avLst/>
              <a:gdLst/>
              <a:ahLst/>
              <a:cxnLst/>
              <a:rect l="l" t="t" r="r" b="b"/>
              <a:pathLst>
                <a:path w="4857115">
                  <a:moveTo>
                    <a:pt x="0" y="0"/>
                  </a:moveTo>
                  <a:lnTo>
                    <a:pt x="4857115" y="0"/>
                  </a:lnTo>
                </a:path>
              </a:pathLst>
            </a:custGeom>
            <a:ln w="19050">
              <a:solidFill>
                <a:srgbClr val="000000"/>
              </a:solidFill>
              <a:prstDash val="sysDash"/>
            </a:ln>
          </p:spPr>
          <p:txBody>
            <a:bodyPr wrap="square" lIns="0" tIns="0" rIns="0" bIns="0" rtlCol="0"/>
            <a:lstStyle/>
            <a:p>
              <a:endParaRPr/>
            </a:p>
          </p:txBody>
        </p:sp>
        <p:sp>
          <p:nvSpPr>
            <p:cNvPr id="5" name="object 5"/>
            <p:cNvSpPr/>
            <p:nvPr/>
          </p:nvSpPr>
          <p:spPr>
            <a:xfrm>
              <a:off x="3515359" y="3275583"/>
              <a:ext cx="4857115" cy="0"/>
            </a:xfrm>
            <a:custGeom>
              <a:avLst/>
              <a:gdLst/>
              <a:ahLst/>
              <a:cxnLst/>
              <a:rect l="l" t="t" r="r" b="b"/>
              <a:pathLst>
                <a:path w="4857115">
                  <a:moveTo>
                    <a:pt x="0" y="0"/>
                  </a:moveTo>
                  <a:lnTo>
                    <a:pt x="4857115" y="0"/>
                  </a:lnTo>
                </a:path>
              </a:pathLst>
            </a:custGeom>
            <a:ln w="25400">
              <a:solidFill>
                <a:srgbClr val="000000"/>
              </a:solidFill>
            </a:ln>
          </p:spPr>
          <p:txBody>
            <a:bodyPr wrap="square" lIns="0" tIns="0" rIns="0" bIns="0" rtlCol="0"/>
            <a:lstStyle/>
            <a:p>
              <a:endParaRPr/>
            </a:p>
          </p:txBody>
        </p:sp>
      </p:grpSp>
      <p:sp>
        <p:nvSpPr>
          <p:cNvPr id="6" name="object 6"/>
          <p:cNvSpPr txBox="1"/>
          <p:nvPr/>
        </p:nvSpPr>
        <p:spPr>
          <a:xfrm>
            <a:off x="3583938" y="3442324"/>
            <a:ext cx="5024120" cy="574040"/>
          </a:xfrm>
          <a:prstGeom prst="rect">
            <a:avLst/>
          </a:prstGeom>
        </p:spPr>
        <p:txBody>
          <a:bodyPr vert="horz" wrap="square" lIns="0" tIns="12700" rIns="0" bIns="0" rtlCol="0">
            <a:spAutoFit/>
          </a:bodyPr>
          <a:lstStyle/>
          <a:p>
            <a:pPr marL="12700">
              <a:lnSpc>
                <a:spcPct val="100000"/>
              </a:lnSpc>
              <a:spcBef>
                <a:spcPts val="100"/>
              </a:spcBef>
            </a:pPr>
            <a:r>
              <a:rPr sz="3600" dirty="0">
                <a:latin typeface="Times New Roman"/>
                <a:cs typeface="Times New Roman"/>
              </a:rPr>
              <a:t>Track</a:t>
            </a:r>
            <a:r>
              <a:rPr sz="3600" spc="-185" dirty="0">
                <a:latin typeface="Times New Roman"/>
                <a:cs typeface="Times New Roman"/>
              </a:rPr>
              <a:t> </a:t>
            </a:r>
            <a:r>
              <a:rPr sz="3600" dirty="0">
                <a:latin typeface="Times New Roman"/>
                <a:cs typeface="Times New Roman"/>
              </a:rPr>
              <a:t>Outcomes</a:t>
            </a:r>
            <a:r>
              <a:rPr sz="3600" spc="-225" dirty="0">
                <a:latin typeface="Times New Roman"/>
                <a:cs typeface="Times New Roman"/>
              </a:rPr>
              <a:t> </a:t>
            </a:r>
            <a:r>
              <a:rPr sz="3600" dirty="0">
                <a:latin typeface="Times New Roman"/>
                <a:cs typeface="Times New Roman"/>
              </a:rPr>
              <a:t>With</a:t>
            </a:r>
            <a:r>
              <a:rPr sz="3600" spc="-180" dirty="0">
                <a:latin typeface="Times New Roman"/>
                <a:cs typeface="Times New Roman"/>
              </a:rPr>
              <a:t> </a:t>
            </a:r>
            <a:r>
              <a:rPr sz="3600" spc="-20" dirty="0">
                <a:latin typeface="Times New Roman"/>
                <a:cs typeface="Times New Roman"/>
              </a:rPr>
              <a:t>Ease</a:t>
            </a:r>
            <a:endParaRPr sz="3600" dirty="0">
              <a:latin typeface="Times New Roman"/>
              <a:cs typeface="Times New Roman"/>
            </a:endParaRPr>
          </a:p>
        </p:txBody>
      </p:sp>
      <p:pic>
        <p:nvPicPr>
          <p:cNvPr id="7" name="object 7"/>
          <p:cNvPicPr/>
          <p:nvPr/>
        </p:nvPicPr>
        <p:blipFill>
          <a:blip r:embed="rId2" cstate="print"/>
          <a:stretch>
            <a:fillRect/>
          </a:stretch>
        </p:blipFill>
        <p:spPr>
          <a:xfrm>
            <a:off x="10316464" y="211950"/>
            <a:ext cx="1489926" cy="411073"/>
          </a:xfrm>
          <a:prstGeom prst="rect">
            <a:avLst/>
          </a:prstGeom>
        </p:spPr>
      </p:pic>
      <p:sp>
        <p:nvSpPr>
          <p:cNvPr id="8" name="object 8"/>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15" name="Google Shape;287;p41">
            <a:extLst>
              <a:ext uri="{FF2B5EF4-FFF2-40B4-BE49-F238E27FC236}">
                <a16:creationId xmlns:a16="http://schemas.microsoft.com/office/drawing/2014/main" id="{92434E3D-3D05-8829-E12E-47437108724A}"/>
              </a:ext>
            </a:extLst>
          </p:cNvPr>
          <p:cNvPicPr/>
          <p:nvPr/>
        </p:nvPicPr>
        <p:blipFill>
          <a:blip r:embed="rId3">
            <a:alphaModFix amt="35000"/>
          </a:blip>
          <a:srcRect l="11023" r="13738" b="8154"/>
          <a:stretch/>
        </p:blipFill>
        <p:spPr>
          <a:xfrm rot="19904170">
            <a:off x="5208790" y="2238495"/>
            <a:ext cx="9079428" cy="6493866"/>
          </a:xfrm>
          <a:prstGeom prst="rect">
            <a:avLst/>
          </a:prstGeom>
          <a:noFill/>
          <a:ln w="0">
            <a:noFill/>
          </a:ln>
        </p:spPr>
      </p:pic>
      <p:pic>
        <p:nvPicPr>
          <p:cNvPr id="16" name="Google Shape;287;p41">
            <a:extLst>
              <a:ext uri="{FF2B5EF4-FFF2-40B4-BE49-F238E27FC236}">
                <a16:creationId xmlns:a16="http://schemas.microsoft.com/office/drawing/2014/main" id="{303D8036-9A31-ACB9-BBFB-08C871905F2F}"/>
              </a:ext>
            </a:extLst>
          </p:cNvPr>
          <p:cNvPicPr/>
          <p:nvPr/>
        </p:nvPicPr>
        <p:blipFill>
          <a:blip r:embed="rId3">
            <a:alphaModFix amt="20000"/>
          </a:blip>
          <a:srcRect l="11023" r="13738" b="8154"/>
          <a:stretch/>
        </p:blipFill>
        <p:spPr>
          <a:xfrm rot="3400652">
            <a:off x="-1499656" y="3528416"/>
            <a:ext cx="5435931" cy="5464381"/>
          </a:xfrm>
          <a:prstGeom prst="rect">
            <a:avLst/>
          </a:prstGeom>
          <a:noFill/>
          <a:ln w="0">
            <a:noFill/>
          </a:ln>
        </p:spPr>
      </p:pic>
      <p:pic>
        <p:nvPicPr>
          <p:cNvPr id="9" name="object 9"/>
          <p:cNvPicPr/>
          <p:nvPr/>
        </p:nvPicPr>
        <p:blipFill>
          <a:blip r:embed="rId4" cstate="print"/>
          <a:stretch>
            <a:fillRect/>
          </a:stretch>
        </p:blipFill>
        <p:spPr>
          <a:xfrm>
            <a:off x="371375" y="190588"/>
            <a:ext cx="953524" cy="545478"/>
          </a:xfrm>
          <a:prstGeom prst="rect">
            <a:avLst/>
          </a:prstGeom>
        </p:spPr>
      </p:pic>
      <p:sp>
        <p:nvSpPr>
          <p:cNvPr id="13" name="object 13"/>
          <p:cNvSpPr txBox="1"/>
          <p:nvPr/>
        </p:nvSpPr>
        <p:spPr>
          <a:xfrm>
            <a:off x="11743181" y="6406319"/>
            <a:ext cx="269240" cy="304800"/>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02</a:t>
            </a:r>
            <a:endParaRPr sz="1800" dirty="0">
              <a:latin typeface="Trebuchet MS"/>
              <a:cs typeface="Trebuchet MS"/>
            </a:endParaRPr>
          </a:p>
        </p:txBody>
      </p:sp>
      <p:sp>
        <p:nvSpPr>
          <p:cNvPr id="14" name="object 14"/>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674738" y="1870329"/>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5" name="object 5"/>
          <p:cNvSpPr/>
          <p:nvPr/>
        </p:nvSpPr>
        <p:spPr>
          <a:xfrm>
            <a:off x="674738" y="1991232"/>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pic>
        <p:nvPicPr>
          <p:cNvPr id="6" name="object 6"/>
          <p:cNvPicPr/>
          <p:nvPr/>
        </p:nvPicPr>
        <p:blipFill>
          <a:blip r:embed="rId2" cstate="print"/>
          <a:stretch>
            <a:fillRect/>
          </a:stretch>
        </p:blipFill>
        <p:spPr>
          <a:xfrm>
            <a:off x="10316464" y="211950"/>
            <a:ext cx="1524000" cy="436765"/>
          </a:xfrm>
          <a:prstGeom prst="rect">
            <a:avLst/>
          </a:prstGeom>
        </p:spPr>
      </p:pic>
      <p:sp>
        <p:nvSpPr>
          <p:cNvPr id="7" name="object 7"/>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8" name="object 8"/>
          <p:cNvPicPr/>
          <p:nvPr/>
        </p:nvPicPr>
        <p:blipFill>
          <a:blip r:embed="rId3" cstate="print"/>
          <a:stretch>
            <a:fillRect/>
          </a:stretch>
        </p:blipFill>
        <p:spPr>
          <a:xfrm>
            <a:off x="371375" y="190588"/>
            <a:ext cx="953524" cy="545478"/>
          </a:xfrm>
          <a:prstGeom prst="rect">
            <a:avLst/>
          </a:prstGeom>
        </p:spPr>
      </p:pic>
      <p:sp>
        <p:nvSpPr>
          <p:cNvPr id="9" name="object 9"/>
          <p:cNvSpPr txBox="1">
            <a:spLocks noGrp="1"/>
          </p:cNvSpPr>
          <p:nvPr>
            <p:ph type="title"/>
          </p:nvPr>
        </p:nvSpPr>
        <p:spPr>
          <a:prstGeom prst="rect">
            <a:avLst/>
          </a:prstGeom>
        </p:spPr>
        <p:txBody>
          <a:bodyPr vert="horz" wrap="square" lIns="0" tIns="328421" rIns="0" bIns="0" rtlCol="0">
            <a:spAutoFit/>
          </a:bodyPr>
          <a:lstStyle/>
          <a:p>
            <a:pPr marL="172720">
              <a:lnSpc>
                <a:spcPct val="100000"/>
              </a:lnSpc>
              <a:spcBef>
                <a:spcPts val="105"/>
              </a:spcBef>
            </a:pPr>
            <a:r>
              <a:rPr spc="-10" dirty="0"/>
              <a:t>CONTENTS:</a:t>
            </a:r>
          </a:p>
        </p:txBody>
      </p:sp>
      <p:pic>
        <p:nvPicPr>
          <p:cNvPr id="13" name="Google Shape;287;p41">
            <a:extLst>
              <a:ext uri="{FF2B5EF4-FFF2-40B4-BE49-F238E27FC236}">
                <a16:creationId xmlns:a16="http://schemas.microsoft.com/office/drawing/2014/main" id="{5385FB93-553C-02C6-B9F5-EB427FD840E5}"/>
              </a:ext>
            </a:extLst>
          </p:cNvPr>
          <p:cNvPicPr/>
          <p:nvPr/>
        </p:nvPicPr>
        <p:blipFill>
          <a:blip r:embed="rId4">
            <a:alphaModFix amt="35000"/>
          </a:blip>
          <a:srcRect l="11023" r="13738" b="8154"/>
          <a:stretch/>
        </p:blipFill>
        <p:spPr>
          <a:xfrm rot="19904170">
            <a:off x="5208790" y="2238495"/>
            <a:ext cx="9079428" cy="6493866"/>
          </a:xfrm>
          <a:prstGeom prst="rect">
            <a:avLst/>
          </a:prstGeom>
          <a:noFill/>
          <a:ln w="0">
            <a:noFill/>
          </a:ln>
        </p:spPr>
      </p:pic>
      <p:pic>
        <p:nvPicPr>
          <p:cNvPr id="14" name="Google Shape;287;p41">
            <a:extLst>
              <a:ext uri="{FF2B5EF4-FFF2-40B4-BE49-F238E27FC236}">
                <a16:creationId xmlns:a16="http://schemas.microsoft.com/office/drawing/2014/main" id="{6CA2C068-4ED2-ED0B-B51D-06375319C741}"/>
              </a:ext>
            </a:extLst>
          </p:cNvPr>
          <p:cNvPicPr/>
          <p:nvPr/>
        </p:nvPicPr>
        <p:blipFill>
          <a:blip r:embed="rId4">
            <a:alphaModFix amt="20000"/>
          </a:blip>
          <a:srcRect l="11023" r="13738" b="8154"/>
          <a:stretch/>
        </p:blipFill>
        <p:spPr>
          <a:xfrm rot="3400652">
            <a:off x="-1499656" y="3528416"/>
            <a:ext cx="5435931" cy="5464381"/>
          </a:xfrm>
          <a:prstGeom prst="rect">
            <a:avLst/>
          </a:prstGeom>
          <a:noFill/>
          <a:ln w="0">
            <a:noFill/>
          </a:ln>
        </p:spPr>
      </p:pic>
      <p:sp>
        <p:nvSpPr>
          <p:cNvPr id="11" name="object 11"/>
          <p:cNvSpPr txBox="1"/>
          <p:nvPr/>
        </p:nvSpPr>
        <p:spPr>
          <a:xfrm>
            <a:off x="11743181" y="6406319"/>
            <a:ext cx="269240" cy="304800"/>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03</a:t>
            </a:r>
            <a:endParaRPr sz="1800">
              <a:latin typeface="Trebuchet MS"/>
              <a:cs typeface="Trebuchet MS"/>
            </a:endParaRPr>
          </a:p>
        </p:txBody>
      </p:sp>
      <p:sp>
        <p:nvSpPr>
          <p:cNvPr id="10" name="object 10"/>
          <p:cNvSpPr txBox="1"/>
          <p:nvPr/>
        </p:nvSpPr>
        <p:spPr>
          <a:xfrm>
            <a:off x="859942" y="2393696"/>
            <a:ext cx="4169258" cy="3613810"/>
          </a:xfrm>
          <a:prstGeom prst="rect">
            <a:avLst/>
          </a:prstGeom>
        </p:spPr>
        <p:txBody>
          <a:bodyPr vert="horz" wrap="square" lIns="0" tIns="12700" rIns="0" bIns="0" rtlCol="0">
            <a:spAutoFit/>
          </a:bodyPr>
          <a:lstStyle/>
          <a:p>
            <a:pPr marL="526415" indent="-513715">
              <a:lnSpc>
                <a:spcPct val="100000"/>
              </a:lnSpc>
              <a:spcBef>
                <a:spcPts val="100"/>
              </a:spcBef>
              <a:buAutoNum type="arabicPeriod"/>
              <a:tabLst>
                <a:tab pos="526415" algn="l"/>
              </a:tabLst>
            </a:pPr>
            <a:r>
              <a:rPr sz="1800" spc="-10" dirty="0">
                <a:latin typeface="Times New Roman"/>
                <a:cs typeface="Times New Roman"/>
              </a:rPr>
              <a:t>Introduction</a:t>
            </a:r>
            <a:endParaRPr sz="1800" dirty="0">
              <a:latin typeface="Times New Roman"/>
              <a:cs typeface="Times New Roman"/>
            </a:endParaRPr>
          </a:p>
          <a:p>
            <a:pPr marL="526415" indent="-513715">
              <a:lnSpc>
                <a:spcPct val="100000"/>
              </a:lnSpc>
              <a:buAutoNum type="arabicPeriod"/>
              <a:tabLst>
                <a:tab pos="526415" algn="l"/>
              </a:tabLst>
            </a:pPr>
            <a:r>
              <a:rPr lang="en-US" dirty="0">
                <a:latin typeface="Times New Roman"/>
                <a:cs typeface="Times New Roman"/>
              </a:rPr>
              <a:t>Existing System</a:t>
            </a:r>
            <a:endParaRPr sz="1800" dirty="0">
              <a:latin typeface="Times New Roman"/>
              <a:cs typeface="Times New Roman"/>
            </a:endParaRPr>
          </a:p>
          <a:p>
            <a:pPr marL="526415" indent="-513715">
              <a:lnSpc>
                <a:spcPct val="100000"/>
              </a:lnSpc>
              <a:buAutoNum type="arabicPeriod"/>
              <a:tabLst>
                <a:tab pos="526415" algn="l"/>
              </a:tabLst>
            </a:pPr>
            <a:r>
              <a:rPr lang="en-US" sz="1800" dirty="0">
                <a:latin typeface="Times New Roman"/>
                <a:cs typeface="Times New Roman"/>
              </a:rPr>
              <a:t>Drawback of Existing System</a:t>
            </a:r>
            <a:endParaRPr sz="1800" dirty="0">
              <a:latin typeface="Times New Roman"/>
              <a:cs typeface="Times New Roman"/>
            </a:endParaRPr>
          </a:p>
          <a:p>
            <a:pPr marL="526415" indent="-513715">
              <a:lnSpc>
                <a:spcPct val="100000"/>
              </a:lnSpc>
              <a:buAutoNum type="arabicPeriod"/>
              <a:tabLst>
                <a:tab pos="526415" algn="l"/>
              </a:tabLst>
            </a:pPr>
            <a:r>
              <a:rPr lang="en-US" dirty="0">
                <a:latin typeface="Times New Roman"/>
                <a:cs typeface="Times New Roman"/>
              </a:rPr>
              <a:t>Proposed System</a:t>
            </a:r>
          </a:p>
          <a:p>
            <a:pPr marL="526415" indent="-513715">
              <a:lnSpc>
                <a:spcPct val="100000"/>
              </a:lnSpc>
              <a:buAutoNum type="arabicPeriod"/>
              <a:tabLst>
                <a:tab pos="526415" algn="l"/>
              </a:tabLst>
            </a:pPr>
            <a:r>
              <a:rPr lang="en-US" sz="1800" dirty="0">
                <a:latin typeface="Times New Roman"/>
                <a:cs typeface="Times New Roman"/>
              </a:rPr>
              <a:t>Use case</a:t>
            </a:r>
            <a:r>
              <a:rPr lang="en-US" dirty="0">
                <a:latin typeface="Times New Roman"/>
                <a:cs typeface="Times New Roman"/>
              </a:rPr>
              <a:t> Diagram</a:t>
            </a:r>
            <a:endParaRPr sz="1800" dirty="0">
              <a:latin typeface="Times New Roman"/>
              <a:cs typeface="Times New Roman"/>
            </a:endParaRPr>
          </a:p>
          <a:p>
            <a:pPr marL="526415" indent="-513715">
              <a:lnSpc>
                <a:spcPct val="100000"/>
              </a:lnSpc>
              <a:buAutoNum type="arabicPeriod"/>
              <a:tabLst>
                <a:tab pos="526415" algn="l"/>
              </a:tabLst>
            </a:pPr>
            <a:r>
              <a:rPr lang="en-US" sz="1800" spc="-10" dirty="0">
                <a:latin typeface="Times New Roman"/>
                <a:cs typeface="Times New Roman"/>
              </a:rPr>
              <a:t>Syst</a:t>
            </a:r>
            <a:r>
              <a:rPr lang="en-US" spc="-10" dirty="0">
                <a:latin typeface="Times New Roman"/>
                <a:cs typeface="Times New Roman"/>
              </a:rPr>
              <a:t>em Architecture Diagram</a:t>
            </a:r>
          </a:p>
          <a:p>
            <a:pPr marL="526415" indent="-513715">
              <a:lnSpc>
                <a:spcPct val="100000"/>
              </a:lnSpc>
              <a:buAutoNum type="arabicPeriod"/>
              <a:tabLst>
                <a:tab pos="526415" algn="l"/>
              </a:tabLst>
            </a:pPr>
            <a:r>
              <a:rPr lang="en-US" sz="1800" spc="-10" dirty="0">
                <a:latin typeface="Times New Roman"/>
                <a:cs typeface="Times New Roman"/>
              </a:rPr>
              <a:t>Technology Stack</a:t>
            </a:r>
            <a:endParaRPr sz="1800" dirty="0">
              <a:latin typeface="Times New Roman"/>
              <a:cs typeface="Times New Roman"/>
            </a:endParaRPr>
          </a:p>
          <a:p>
            <a:pPr marL="526415" indent="-513715">
              <a:lnSpc>
                <a:spcPct val="100000"/>
              </a:lnSpc>
              <a:buAutoNum type="arabicPeriod"/>
              <a:tabLst>
                <a:tab pos="526415" algn="l"/>
              </a:tabLst>
            </a:pPr>
            <a:r>
              <a:rPr lang="en-US" dirty="0">
                <a:latin typeface="Times New Roman"/>
                <a:cs typeface="Times New Roman"/>
              </a:rPr>
              <a:t>Data Flow Diagram Level-0</a:t>
            </a:r>
          </a:p>
          <a:p>
            <a:pPr marL="526415" indent="-513715">
              <a:lnSpc>
                <a:spcPct val="100000"/>
              </a:lnSpc>
              <a:buAutoNum type="arabicPeriod"/>
              <a:tabLst>
                <a:tab pos="526415" algn="l"/>
              </a:tabLst>
            </a:pPr>
            <a:r>
              <a:rPr lang="en-US" sz="1800" dirty="0">
                <a:latin typeface="Times New Roman"/>
                <a:cs typeface="Times New Roman"/>
              </a:rPr>
              <a:t>Data flow Diagram Level-1</a:t>
            </a:r>
            <a:endParaRPr sz="1800" dirty="0">
              <a:latin typeface="Times New Roman"/>
              <a:cs typeface="Times New Roman"/>
            </a:endParaRPr>
          </a:p>
          <a:p>
            <a:pPr marL="526415" indent="-513715">
              <a:lnSpc>
                <a:spcPct val="100000"/>
              </a:lnSpc>
              <a:buAutoNum type="arabicPeriod"/>
              <a:tabLst>
                <a:tab pos="526415" algn="l"/>
              </a:tabLst>
            </a:pPr>
            <a:r>
              <a:rPr sz="1800" spc="-10" dirty="0">
                <a:latin typeface="Times New Roman"/>
                <a:cs typeface="Times New Roman"/>
              </a:rPr>
              <a:t>Advantages</a:t>
            </a:r>
            <a:endParaRPr sz="1800" dirty="0">
              <a:latin typeface="Times New Roman"/>
              <a:cs typeface="Times New Roman"/>
            </a:endParaRPr>
          </a:p>
          <a:p>
            <a:pPr marL="526415" indent="-513715">
              <a:lnSpc>
                <a:spcPct val="100000"/>
              </a:lnSpc>
              <a:buAutoNum type="arabicPeriod"/>
              <a:tabLst>
                <a:tab pos="526415" algn="l"/>
              </a:tabLst>
            </a:pPr>
            <a:r>
              <a:rPr sz="1800" spc="-10" dirty="0">
                <a:latin typeface="Times New Roman"/>
                <a:cs typeface="Times New Roman"/>
              </a:rPr>
              <a:t>Applications</a:t>
            </a:r>
            <a:endParaRPr sz="1800" dirty="0">
              <a:latin typeface="Times New Roman"/>
              <a:cs typeface="Times New Roman"/>
            </a:endParaRPr>
          </a:p>
          <a:p>
            <a:pPr marL="526415" indent="-513715">
              <a:lnSpc>
                <a:spcPct val="100000"/>
              </a:lnSpc>
              <a:buAutoNum type="arabicPeriod"/>
              <a:tabLst>
                <a:tab pos="526415" algn="l"/>
              </a:tabLst>
            </a:pPr>
            <a:r>
              <a:rPr sz="1800" dirty="0">
                <a:latin typeface="Times New Roman"/>
                <a:cs typeface="Times New Roman"/>
              </a:rPr>
              <a:t>Future</a:t>
            </a:r>
            <a:r>
              <a:rPr sz="1800" spc="-50" dirty="0">
                <a:latin typeface="Times New Roman"/>
                <a:cs typeface="Times New Roman"/>
              </a:rPr>
              <a:t> </a:t>
            </a:r>
            <a:r>
              <a:rPr sz="1800" spc="-10" dirty="0">
                <a:latin typeface="Times New Roman"/>
                <a:cs typeface="Times New Roman"/>
              </a:rPr>
              <a:t>Scope</a:t>
            </a:r>
            <a:endParaRPr sz="1800" dirty="0">
              <a:latin typeface="Times New Roman"/>
              <a:cs typeface="Times New Roman"/>
            </a:endParaRPr>
          </a:p>
          <a:p>
            <a:pPr marL="526415" indent="-513715">
              <a:lnSpc>
                <a:spcPct val="100000"/>
              </a:lnSpc>
              <a:buAutoNum type="arabicPeriod"/>
              <a:tabLst>
                <a:tab pos="526415" algn="l"/>
              </a:tabLst>
            </a:pPr>
            <a:r>
              <a:rPr sz="1800" spc="-10" dirty="0">
                <a:latin typeface="Times New Roman"/>
                <a:cs typeface="Times New Roman"/>
              </a:rPr>
              <a:t>Conclusion</a:t>
            </a:r>
            <a:endParaRPr sz="1800" dirty="0">
              <a:latin typeface="Times New Roman"/>
              <a:cs typeface="Times New Roman"/>
            </a:endParaRPr>
          </a:p>
        </p:txBody>
      </p:sp>
      <p:sp>
        <p:nvSpPr>
          <p:cNvPr id="15" name="object 14">
            <a:extLst>
              <a:ext uri="{FF2B5EF4-FFF2-40B4-BE49-F238E27FC236}">
                <a16:creationId xmlns:a16="http://schemas.microsoft.com/office/drawing/2014/main" id="{8B773F53-90EE-F7F1-7BA1-FB57D9C3373D}"/>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0316464" y="211950"/>
            <a:ext cx="1524000" cy="436765"/>
          </a:xfrm>
          <a:prstGeom prst="rect">
            <a:avLst/>
          </a:prstGeom>
        </p:spPr>
      </p:pic>
      <p:sp>
        <p:nvSpPr>
          <p:cNvPr id="7" name="object 7"/>
          <p:cNvSpPr txBox="1">
            <a:spLocks noGrp="1"/>
          </p:cNvSpPr>
          <p:nvPr>
            <p:ph type="title"/>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dirty="0"/>
              <a:t>Sandip</a:t>
            </a:r>
            <a:r>
              <a:rPr sz="1800" spc="-40" dirty="0"/>
              <a:t> </a:t>
            </a:r>
            <a:r>
              <a:rPr sz="1800" spc="-10" dirty="0"/>
              <a:t>Foundation’s,</a:t>
            </a:r>
            <a:r>
              <a:rPr sz="1800" spc="-15" dirty="0"/>
              <a:t> </a:t>
            </a:r>
            <a:r>
              <a:rPr sz="1800" dirty="0"/>
              <a:t>Sandip</a:t>
            </a:r>
            <a:r>
              <a:rPr sz="1800" spc="-35" dirty="0"/>
              <a:t> </a:t>
            </a:r>
            <a:r>
              <a:rPr sz="1800" dirty="0"/>
              <a:t>Polytechnic,</a:t>
            </a:r>
            <a:r>
              <a:rPr sz="1800" spc="-60" dirty="0"/>
              <a:t> </a:t>
            </a:r>
            <a:r>
              <a:rPr sz="1800" spc="-10" dirty="0"/>
              <a:t>Nashik</a:t>
            </a:r>
            <a:endParaRPr sz="1800"/>
          </a:p>
        </p:txBody>
      </p:sp>
      <p:pic>
        <p:nvPicPr>
          <p:cNvPr id="8" name="object 8"/>
          <p:cNvPicPr/>
          <p:nvPr/>
        </p:nvPicPr>
        <p:blipFill>
          <a:blip r:embed="rId3" cstate="print"/>
          <a:stretch>
            <a:fillRect/>
          </a:stretch>
        </p:blipFill>
        <p:spPr>
          <a:xfrm>
            <a:off x="371375" y="190588"/>
            <a:ext cx="953524" cy="545478"/>
          </a:xfrm>
          <a:prstGeom prst="rect">
            <a:avLst/>
          </a:prstGeom>
        </p:spPr>
      </p:pic>
      <p:pic>
        <p:nvPicPr>
          <p:cNvPr id="13" name="Google Shape;287;p41">
            <a:extLst>
              <a:ext uri="{FF2B5EF4-FFF2-40B4-BE49-F238E27FC236}">
                <a16:creationId xmlns:a16="http://schemas.microsoft.com/office/drawing/2014/main" id="{9F1B1A71-8787-FDB0-4E4B-2A936DC81B51}"/>
              </a:ext>
            </a:extLst>
          </p:cNvPr>
          <p:cNvPicPr/>
          <p:nvPr/>
        </p:nvPicPr>
        <p:blipFill>
          <a:blip r:embed="rId4">
            <a:alphaModFix amt="35000"/>
          </a:blip>
          <a:srcRect l="11023" r="13738" b="8154"/>
          <a:stretch/>
        </p:blipFill>
        <p:spPr>
          <a:xfrm rot="19904170">
            <a:off x="5208790" y="2238495"/>
            <a:ext cx="9079428" cy="6493866"/>
          </a:xfrm>
          <a:prstGeom prst="rect">
            <a:avLst/>
          </a:prstGeom>
          <a:noFill/>
          <a:ln w="0">
            <a:noFill/>
          </a:ln>
        </p:spPr>
      </p:pic>
      <p:pic>
        <p:nvPicPr>
          <p:cNvPr id="14" name="Google Shape;287;p41">
            <a:extLst>
              <a:ext uri="{FF2B5EF4-FFF2-40B4-BE49-F238E27FC236}">
                <a16:creationId xmlns:a16="http://schemas.microsoft.com/office/drawing/2014/main" id="{4850B075-2254-96D9-8BEE-B5C6D8335133}"/>
              </a:ext>
            </a:extLst>
          </p:cNvPr>
          <p:cNvPicPr/>
          <p:nvPr/>
        </p:nvPicPr>
        <p:blipFill>
          <a:blip r:embed="rId4">
            <a:alphaModFix amt="20000"/>
          </a:blip>
          <a:srcRect l="11023" r="13738" b="8154"/>
          <a:stretch/>
        </p:blipFill>
        <p:spPr>
          <a:xfrm rot="3400652">
            <a:off x="-1499656" y="3528416"/>
            <a:ext cx="5435931" cy="5464381"/>
          </a:xfrm>
          <a:prstGeom prst="rect">
            <a:avLst/>
          </a:prstGeom>
          <a:noFill/>
          <a:ln w="0">
            <a:noFill/>
          </a:ln>
        </p:spPr>
      </p:pic>
      <p:sp>
        <p:nvSpPr>
          <p:cNvPr id="11" name="object 11"/>
          <p:cNvSpPr txBox="1"/>
          <p:nvPr/>
        </p:nvSpPr>
        <p:spPr>
          <a:xfrm>
            <a:off x="11743181" y="6406319"/>
            <a:ext cx="269240" cy="304800"/>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04</a:t>
            </a:r>
            <a:endParaRPr sz="1800">
              <a:latin typeface="Trebuchet MS"/>
              <a:cs typeface="Trebuchet MS"/>
            </a:endParaRPr>
          </a:p>
        </p:txBody>
      </p:sp>
      <p:sp>
        <p:nvSpPr>
          <p:cNvPr id="15" name="object 14">
            <a:extLst>
              <a:ext uri="{FF2B5EF4-FFF2-40B4-BE49-F238E27FC236}">
                <a16:creationId xmlns:a16="http://schemas.microsoft.com/office/drawing/2014/main" id="{FDDDEA68-1041-DB61-7BF8-A9082DB0A543}"/>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21" name="Group 20">
            <a:extLst>
              <a:ext uri="{FF2B5EF4-FFF2-40B4-BE49-F238E27FC236}">
                <a16:creationId xmlns:a16="http://schemas.microsoft.com/office/drawing/2014/main" id="{827E43E3-4A9A-4C67-8CA4-9A1732E3DD09}"/>
              </a:ext>
            </a:extLst>
          </p:cNvPr>
          <p:cNvGrpSpPr/>
          <p:nvPr/>
        </p:nvGrpSpPr>
        <p:grpSpPr>
          <a:xfrm>
            <a:off x="593242" y="890143"/>
            <a:ext cx="11005515" cy="1091057"/>
            <a:chOff x="593242" y="890143"/>
            <a:chExt cx="11005515" cy="1091057"/>
          </a:xfrm>
        </p:grpSpPr>
        <p:sp>
          <p:nvSpPr>
            <p:cNvPr id="16" name="object 9">
              <a:extLst>
                <a:ext uri="{FF2B5EF4-FFF2-40B4-BE49-F238E27FC236}">
                  <a16:creationId xmlns:a16="http://schemas.microsoft.com/office/drawing/2014/main" id="{15539B2C-7103-4852-EE27-5F418F91CBEE}"/>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INTRODUCTION TO OBE:</a:t>
              </a:r>
            </a:p>
          </p:txBody>
        </p:sp>
        <p:grpSp>
          <p:nvGrpSpPr>
            <p:cNvPr id="18" name="Group 17">
              <a:extLst>
                <a:ext uri="{FF2B5EF4-FFF2-40B4-BE49-F238E27FC236}">
                  <a16:creationId xmlns:a16="http://schemas.microsoft.com/office/drawing/2014/main" id="{77D7D389-F982-F706-700B-620D45CF3B4E}"/>
                </a:ext>
              </a:extLst>
            </p:cNvPr>
            <p:cNvGrpSpPr/>
            <p:nvPr/>
          </p:nvGrpSpPr>
          <p:grpSpPr>
            <a:xfrm>
              <a:off x="685800" y="1860169"/>
              <a:ext cx="4857750" cy="121031"/>
              <a:chOff x="560438" y="2224532"/>
              <a:chExt cx="4857750" cy="121031"/>
            </a:xfrm>
          </p:grpSpPr>
          <p:sp>
            <p:nvSpPr>
              <p:cNvPr id="19" name="object 4">
                <a:extLst>
                  <a:ext uri="{FF2B5EF4-FFF2-40B4-BE49-F238E27FC236}">
                    <a16:creationId xmlns:a16="http://schemas.microsoft.com/office/drawing/2014/main" id="{A3C17789-09D9-7851-6BF2-AC0A465B98FA}"/>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0" name="object 5">
                <a:extLst>
                  <a:ext uri="{FF2B5EF4-FFF2-40B4-BE49-F238E27FC236}">
                    <a16:creationId xmlns:a16="http://schemas.microsoft.com/office/drawing/2014/main" id="{8A012F45-D9B2-D674-D482-88CC0B7B8A40}"/>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3" name="TextBox 2">
            <a:extLst>
              <a:ext uri="{FF2B5EF4-FFF2-40B4-BE49-F238E27FC236}">
                <a16:creationId xmlns:a16="http://schemas.microsoft.com/office/drawing/2014/main" id="{1D91C7EE-5A58-932D-3EBB-65D2F4F05633}"/>
              </a:ext>
            </a:extLst>
          </p:cNvPr>
          <p:cNvSpPr txBox="1"/>
          <p:nvPr/>
        </p:nvSpPr>
        <p:spPr>
          <a:xfrm>
            <a:off x="685800" y="2219615"/>
            <a:ext cx="10080702" cy="439761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ea typeface="Nirmala UI Semilight" panose="020B0402040204020203" pitchFamily="34" charset="0"/>
                <a:cs typeface="Times New Roman" panose="02020603050405020304" pitchFamily="18" charset="0"/>
              </a:rPr>
              <a:t>Outcome-Based Education (OBE) focuses on the knowledge and skills students achieve after completing a course.</a:t>
            </a:r>
          </a:p>
          <a:p>
            <a:pPr marL="285750" indent="-285750">
              <a:lnSpc>
                <a:spcPct val="150000"/>
              </a:lnSpc>
              <a:buFont typeface="Arial" panose="020B0604020202020204" pitchFamily="34" charset="0"/>
              <a:buChar char="•"/>
            </a:pPr>
            <a:r>
              <a:rPr lang="en-IN" dirty="0">
                <a:latin typeface="Times New Roman" panose="02020603050405020304" pitchFamily="18" charset="0"/>
                <a:ea typeface="Nirmala UI Semilight" panose="020B0402040204020203" pitchFamily="34" charset="0"/>
                <a:cs typeface="Times New Roman" panose="02020603050405020304" pitchFamily="18" charset="0"/>
              </a:rPr>
              <a:t>NBA follows the OBE framework to ensure quality and continuous improvement in technical education.</a:t>
            </a:r>
          </a:p>
          <a:p>
            <a:pPr marL="539748" lvl="1" indent="-269874" algn="just">
              <a:lnSpc>
                <a:spcPts val="3499"/>
              </a:lnSpc>
              <a:buFont typeface="Arial"/>
              <a:buChar char="•"/>
            </a:pPr>
            <a:r>
              <a:rPr lang="en-US" b="1" u="sng" dirty="0">
                <a:solidFill>
                  <a:schemeClr val="tx1"/>
                </a:solidFill>
                <a:latin typeface="Times New Roman" panose="02020603050405020304" pitchFamily="18" charset="0"/>
                <a:ea typeface="Futura Bold"/>
                <a:cs typeface="Times New Roman" panose="02020603050405020304" pitchFamily="18" charset="0"/>
                <a:sym typeface="Futura Bold"/>
              </a:rPr>
              <a:t>Course Outcomes(COs)</a:t>
            </a:r>
            <a:r>
              <a:rPr lang="en-US" u="sng" dirty="0">
                <a:solidFill>
                  <a:schemeClr val="tx1"/>
                </a:solidFill>
                <a:latin typeface="Times New Roman" panose="02020603050405020304" pitchFamily="18" charset="0"/>
                <a:ea typeface="Futura"/>
                <a:cs typeface="Times New Roman" panose="02020603050405020304" pitchFamily="18" charset="0"/>
                <a:sym typeface="Futura"/>
              </a:rPr>
              <a:t>:</a:t>
            </a:r>
            <a:r>
              <a:rPr lang="en-US" dirty="0">
                <a:solidFill>
                  <a:schemeClr val="tx1"/>
                </a:solidFill>
                <a:latin typeface="Times New Roman" panose="02020603050405020304" pitchFamily="18" charset="0"/>
                <a:ea typeface="Futura"/>
                <a:cs typeface="Times New Roman" panose="02020603050405020304" pitchFamily="18" charset="0"/>
                <a:sym typeface="Futura"/>
              </a:rPr>
              <a:t>Statements describing what students should know or be able to do after completing a specific course.</a:t>
            </a:r>
          </a:p>
          <a:p>
            <a:pPr marL="539748" lvl="1" indent="-269874" algn="just">
              <a:lnSpc>
                <a:spcPts val="3499"/>
              </a:lnSpc>
              <a:buFont typeface="Arial"/>
              <a:buChar char="•"/>
            </a:pPr>
            <a:r>
              <a:rPr lang="en-US" b="1" u="sng" dirty="0">
                <a:solidFill>
                  <a:schemeClr val="tx1"/>
                </a:solidFill>
                <a:latin typeface="Times New Roman" panose="02020603050405020304" pitchFamily="18" charset="0"/>
                <a:ea typeface="Futura Bold"/>
                <a:cs typeface="Times New Roman" panose="02020603050405020304" pitchFamily="18" charset="0"/>
                <a:sym typeface="Futura Bold"/>
              </a:rPr>
              <a:t>Program Outcomes(POs)</a:t>
            </a:r>
            <a:r>
              <a:rPr lang="en-US" dirty="0">
                <a:solidFill>
                  <a:schemeClr val="tx1"/>
                </a:solidFill>
                <a:latin typeface="Times New Roman" panose="02020603050405020304" pitchFamily="18" charset="0"/>
                <a:ea typeface="Futura"/>
                <a:cs typeface="Times New Roman" panose="02020603050405020304" pitchFamily="18" charset="0"/>
                <a:sym typeface="Futura"/>
              </a:rPr>
              <a:t>:Broader competencies students should achieve upon completion of the program</a:t>
            </a:r>
          </a:p>
          <a:p>
            <a:pPr marL="539748" lvl="1" indent="-269874" algn="just">
              <a:lnSpc>
                <a:spcPts val="3499"/>
              </a:lnSpc>
              <a:buFont typeface="Arial"/>
              <a:buChar char="•"/>
            </a:pPr>
            <a:r>
              <a:rPr lang="en-US" b="1" u="sng" dirty="0">
                <a:solidFill>
                  <a:schemeClr val="tx1"/>
                </a:solidFill>
                <a:latin typeface="Times New Roman" panose="02020603050405020304" pitchFamily="18" charset="0"/>
                <a:ea typeface="Futura Bold"/>
                <a:cs typeface="Times New Roman" panose="02020603050405020304" pitchFamily="18" charset="0"/>
                <a:sym typeface="Futura Bold"/>
              </a:rPr>
              <a:t>Program Specific Outcomes(PSOs)</a:t>
            </a:r>
            <a:r>
              <a:rPr lang="en-US" dirty="0">
                <a:solidFill>
                  <a:schemeClr val="tx1"/>
                </a:solidFill>
                <a:latin typeface="Times New Roman" panose="02020603050405020304" pitchFamily="18" charset="0"/>
                <a:ea typeface="Futura"/>
                <a:cs typeface="Times New Roman" panose="02020603050405020304" pitchFamily="18" charset="0"/>
                <a:sym typeface="Futura"/>
              </a:rPr>
              <a:t>:Specialized skills related to a specific discipline.</a:t>
            </a:r>
          </a:p>
          <a:p>
            <a:pPr marL="269874" lvl="1" algn="just">
              <a:lnSpc>
                <a:spcPts val="3499"/>
              </a:lnSpc>
            </a:pPr>
            <a:r>
              <a:rPr lang="en-US" dirty="0">
                <a:solidFill>
                  <a:schemeClr val="tx1"/>
                </a:solidFill>
                <a:latin typeface="Times New Roman" panose="02020603050405020304" pitchFamily="18" charset="0"/>
                <a:ea typeface="Futura"/>
                <a:cs typeface="Times New Roman" panose="02020603050405020304" pitchFamily="18" charset="0"/>
                <a:sym typeface="Futura"/>
              </a:rPr>
              <a:t>Each of these outcomes must be clearly mapped and evaluated using structured assessments methods</a:t>
            </a:r>
          </a:p>
          <a:p>
            <a:pPr>
              <a:lnSpc>
                <a:spcPct val="150000"/>
              </a:lnSpc>
            </a:pPr>
            <a:endParaRPr lang="en-IN" dirty="0">
              <a:latin typeface="Times New Roman" panose="02020603050405020304" pitchFamily="18" charset="0"/>
              <a:ea typeface="Nirmala UI Semilight" panose="020B0402040204020203"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0316464" y="211950"/>
            <a:ext cx="1524000" cy="436765"/>
          </a:xfrm>
          <a:prstGeom prst="rect">
            <a:avLst/>
          </a:prstGeom>
        </p:spPr>
      </p:pic>
      <p:sp>
        <p:nvSpPr>
          <p:cNvPr id="7" name="object 7"/>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dirty="0">
              <a:latin typeface="Times New Roman"/>
              <a:cs typeface="Times New Roman"/>
            </a:endParaRPr>
          </a:p>
        </p:txBody>
      </p:sp>
      <p:pic>
        <p:nvPicPr>
          <p:cNvPr id="8" name="object 8"/>
          <p:cNvPicPr/>
          <p:nvPr/>
        </p:nvPicPr>
        <p:blipFill>
          <a:blip r:embed="rId3" cstate="print"/>
          <a:stretch>
            <a:fillRect/>
          </a:stretch>
        </p:blipFill>
        <p:spPr>
          <a:xfrm>
            <a:off x="371375" y="190588"/>
            <a:ext cx="953524" cy="545478"/>
          </a:xfrm>
          <a:prstGeom prst="rect">
            <a:avLst/>
          </a:prstGeom>
        </p:spPr>
      </p:pic>
      <p:pic>
        <p:nvPicPr>
          <p:cNvPr id="13" name="Google Shape;287;p41">
            <a:extLst>
              <a:ext uri="{FF2B5EF4-FFF2-40B4-BE49-F238E27FC236}">
                <a16:creationId xmlns:a16="http://schemas.microsoft.com/office/drawing/2014/main" id="{C48452B6-7942-C05E-25A0-E9006F2D26A8}"/>
              </a:ext>
            </a:extLst>
          </p:cNvPr>
          <p:cNvPicPr/>
          <p:nvPr/>
        </p:nvPicPr>
        <p:blipFill>
          <a:blip r:embed="rId4">
            <a:alphaModFix amt="35000"/>
          </a:blip>
          <a:srcRect l="11023" r="13738" b="8154"/>
          <a:stretch/>
        </p:blipFill>
        <p:spPr>
          <a:xfrm rot="19904170">
            <a:off x="5208790" y="2238495"/>
            <a:ext cx="9079428" cy="6493866"/>
          </a:xfrm>
          <a:prstGeom prst="rect">
            <a:avLst/>
          </a:prstGeom>
          <a:noFill/>
          <a:ln w="0">
            <a:noFill/>
          </a:ln>
        </p:spPr>
      </p:pic>
      <p:pic>
        <p:nvPicPr>
          <p:cNvPr id="14" name="Google Shape;287;p41">
            <a:extLst>
              <a:ext uri="{FF2B5EF4-FFF2-40B4-BE49-F238E27FC236}">
                <a16:creationId xmlns:a16="http://schemas.microsoft.com/office/drawing/2014/main" id="{B41ACF91-7B88-225F-7145-60650A4C8A72}"/>
              </a:ext>
            </a:extLst>
          </p:cNvPr>
          <p:cNvPicPr/>
          <p:nvPr/>
        </p:nvPicPr>
        <p:blipFill>
          <a:blip r:embed="rId4">
            <a:alphaModFix amt="20000"/>
          </a:blip>
          <a:srcRect l="11023" r="13738" b="8154"/>
          <a:stretch/>
        </p:blipFill>
        <p:spPr>
          <a:xfrm rot="3400652">
            <a:off x="-1499656" y="3528416"/>
            <a:ext cx="5435931" cy="5464381"/>
          </a:xfrm>
          <a:prstGeom prst="rect">
            <a:avLst/>
          </a:prstGeom>
          <a:noFill/>
          <a:ln w="0">
            <a:noFill/>
          </a:ln>
        </p:spPr>
      </p:pic>
      <p:sp>
        <p:nvSpPr>
          <p:cNvPr id="11" name="object 11"/>
          <p:cNvSpPr txBox="1"/>
          <p:nvPr/>
        </p:nvSpPr>
        <p:spPr>
          <a:xfrm>
            <a:off x="11743181" y="6406319"/>
            <a:ext cx="269240" cy="304800"/>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05</a:t>
            </a:r>
            <a:endParaRPr sz="1800" dirty="0">
              <a:latin typeface="Trebuchet MS"/>
              <a:cs typeface="Trebuchet MS"/>
            </a:endParaRPr>
          </a:p>
        </p:txBody>
      </p:sp>
      <p:sp>
        <p:nvSpPr>
          <p:cNvPr id="15" name="object 14">
            <a:extLst>
              <a:ext uri="{FF2B5EF4-FFF2-40B4-BE49-F238E27FC236}">
                <a16:creationId xmlns:a16="http://schemas.microsoft.com/office/drawing/2014/main" id="{ED908C58-7CF0-CC7B-3BF1-E4D94F69253F}"/>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23" name="Group 22">
            <a:extLst>
              <a:ext uri="{FF2B5EF4-FFF2-40B4-BE49-F238E27FC236}">
                <a16:creationId xmlns:a16="http://schemas.microsoft.com/office/drawing/2014/main" id="{A26170A0-8FDA-1328-E61C-D2A585DBCA9B}"/>
              </a:ext>
            </a:extLst>
          </p:cNvPr>
          <p:cNvGrpSpPr/>
          <p:nvPr/>
        </p:nvGrpSpPr>
        <p:grpSpPr>
          <a:xfrm>
            <a:off x="593242" y="890143"/>
            <a:ext cx="11005515" cy="1091057"/>
            <a:chOff x="593242" y="890143"/>
            <a:chExt cx="11005515" cy="1091057"/>
          </a:xfrm>
        </p:grpSpPr>
        <p:sp>
          <p:nvSpPr>
            <p:cNvPr id="24" name="object 9">
              <a:extLst>
                <a:ext uri="{FF2B5EF4-FFF2-40B4-BE49-F238E27FC236}">
                  <a16:creationId xmlns:a16="http://schemas.microsoft.com/office/drawing/2014/main" id="{A5CBCFCA-371D-D126-072C-9CB6DF15CC3B}"/>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EXISTING SYSTEM:</a:t>
              </a:r>
            </a:p>
          </p:txBody>
        </p:sp>
        <p:grpSp>
          <p:nvGrpSpPr>
            <p:cNvPr id="25" name="Group 24">
              <a:extLst>
                <a:ext uri="{FF2B5EF4-FFF2-40B4-BE49-F238E27FC236}">
                  <a16:creationId xmlns:a16="http://schemas.microsoft.com/office/drawing/2014/main" id="{AA87022D-46CB-36EB-DE56-04B3DC397DC7}"/>
                </a:ext>
              </a:extLst>
            </p:cNvPr>
            <p:cNvGrpSpPr/>
            <p:nvPr/>
          </p:nvGrpSpPr>
          <p:grpSpPr>
            <a:xfrm>
              <a:off x="685800" y="1860169"/>
              <a:ext cx="4857750" cy="121031"/>
              <a:chOff x="560438" y="2224532"/>
              <a:chExt cx="4857750" cy="121031"/>
            </a:xfrm>
          </p:grpSpPr>
          <p:sp>
            <p:nvSpPr>
              <p:cNvPr id="26" name="object 4">
                <a:extLst>
                  <a:ext uri="{FF2B5EF4-FFF2-40B4-BE49-F238E27FC236}">
                    <a16:creationId xmlns:a16="http://schemas.microsoft.com/office/drawing/2014/main" id="{B0852E6A-2D8B-A724-8854-9FD6FD4E2DDA}"/>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7" name="object 5">
                <a:extLst>
                  <a:ext uri="{FF2B5EF4-FFF2-40B4-BE49-F238E27FC236}">
                    <a16:creationId xmlns:a16="http://schemas.microsoft.com/office/drawing/2014/main" id="{A8E1CCE9-63E4-1650-5252-E817AB2468D8}"/>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8" name="object 10">
            <a:extLst>
              <a:ext uri="{FF2B5EF4-FFF2-40B4-BE49-F238E27FC236}">
                <a16:creationId xmlns:a16="http://schemas.microsoft.com/office/drawing/2014/main" id="{0B6AFE42-A0B2-7C6A-FB89-7E03C7AF98EE}"/>
              </a:ext>
            </a:extLst>
          </p:cNvPr>
          <p:cNvSpPr txBox="1"/>
          <p:nvPr/>
        </p:nvSpPr>
        <p:spPr>
          <a:xfrm>
            <a:off x="620674" y="2286000"/>
            <a:ext cx="10502265" cy="2033890"/>
          </a:xfrm>
          <a:prstGeom prst="rect">
            <a:avLst/>
          </a:prstGeom>
        </p:spPr>
        <p:txBody>
          <a:bodyPr vert="horz" wrap="square" lIns="0" tIns="134620" rIns="0" bIns="0" rtlCol="0">
            <a:spAutoFit/>
          </a:bodyPr>
          <a:lstStyle/>
          <a:p>
            <a:pPr marL="297815" marR="6985" indent="-285750">
              <a:lnSpc>
                <a:spcPct val="100000"/>
              </a:lnSpc>
              <a:spcBef>
                <a:spcPts val="960"/>
              </a:spcBef>
              <a:buFont typeface="Arial" panose="020B0604020202020204" pitchFamily="34" charset="0"/>
              <a:buChar char="•"/>
              <a:tabLst>
                <a:tab pos="525780" algn="l"/>
              </a:tabLst>
            </a:pPr>
            <a:r>
              <a:rPr lang="en-US" sz="1800" dirty="0">
                <a:latin typeface="Times New Roman"/>
                <a:cs typeface="Times New Roman"/>
              </a:rPr>
              <a:t>OBE tracking and report generation is manual, relying on spreadsheets and paper records.</a:t>
            </a:r>
          </a:p>
          <a:p>
            <a:pPr marL="297815" marR="6985" indent="-285750">
              <a:lnSpc>
                <a:spcPct val="100000"/>
              </a:lnSpc>
              <a:spcBef>
                <a:spcPts val="960"/>
              </a:spcBef>
              <a:buFont typeface="Arial" panose="020B0604020202020204" pitchFamily="34" charset="0"/>
              <a:buChar char="•"/>
              <a:tabLst>
                <a:tab pos="525780" algn="l"/>
              </a:tabLst>
            </a:pPr>
            <a:r>
              <a:rPr lang="en-US" sz="1800" dirty="0">
                <a:latin typeface="Times New Roman"/>
                <a:cs typeface="Times New Roman"/>
              </a:rPr>
              <a:t>Faculty must calculate CO-PO attainment manually, which is time-consuming and error-prone. </a:t>
            </a:r>
          </a:p>
          <a:p>
            <a:pPr marL="297815" marR="6985" indent="-285750">
              <a:lnSpc>
                <a:spcPct val="100000"/>
              </a:lnSpc>
              <a:spcBef>
                <a:spcPts val="960"/>
              </a:spcBef>
              <a:buFont typeface="Arial" panose="020B0604020202020204" pitchFamily="34" charset="0"/>
              <a:buChar char="•"/>
              <a:tabLst>
                <a:tab pos="525780" algn="l"/>
              </a:tabLst>
            </a:pPr>
            <a:r>
              <a:rPr lang="en-US" sz="1800" dirty="0">
                <a:latin typeface="Times New Roman"/>
                <a:cs typeface="Times New Roman"/>
              </a:rPr>
              <a:t>Generating reports like CIS, </a:t>
            </a:r>
            <a:r>
              <a:rPr lang="en-US" dirty="0">
                <a:latin typeface="Times New Roman"/>
                <a:cs typeface="Times New Roman"/>
              </a:rPr>
              <a:t>R</a:t>
            </a:r>
            <a:r>
              <a:rPr lang="en-US" sz="1800" dirty="0">
                <a:latin typeface="Times New Roman"/>
                <a:cs typeface="Times New Roman"/>
              </a:rPr>
              <a:t>esult of </a:t>
            </a:r>
            <a:r>
              <a:rPr lang="en-US" dirty="0">
                <a:latin typeface="Times New Roman"/>
                <a:cs typeface="Times New Roman"/>
              </a:rPr>
              <a:t>E</a:t>
            </a:r>
            <a:r>
              <a:rPr lang="en-US" sz="1800" dirty="0">
                <a:latin typeface="Times New Roman"/>
                <a:cs typeface="Times New Roman"/>
              </a:rPr>
              <a:t>valuation requires significant effort and often leads to delays.</a:t>
            </a:r>
          </a:p>
          <a:p>
            <a:pPr marL="297815" marR="6985" indent="-285750">
              <a:lnSpc>
                <a:spcPct val="100000"/>
              </a:lnSpc>
              <a:spcBef>
                <a:spcPts val="960"/>
              </a:spcBef>
              <a:buFont typeface="Arial" panose="020B0604020202020204" pitchFamily="34" charset="0"/>
              <a:buChar char="•"/>
              <a:tabLst>
                <a:tab pos="525780" algn="l"/>
              </a:tabLst>
            </a:pPr>
            <a:r>
              <a:rPr lang="en-US" sz="1800" dirty="0">
                <a:latin typeface="Times New Roman"/>
                <a:cs typeface="Times New Roman"/>
              </a:rPr>
              <a:t>No role-based access control, so data security and confidentiality are not ensured.</a:t>
            </a:r>
          </a:p>
          <a:p>
            <a:pPr marL="297815" marR="6985" indent="-285750">
              <a:lnSpc>
                <a:spcPct val="100000"/>
              </a:lnSpc>
              <a:spcBef>
                <a:spcPts val="960"/>
              </a:spcBef>
              <a:buFont typeface="Arial" panose="020B0604020202020204" pitchFamily="34" charset="0"/>
              <a:buChar char="•"/>
              <a:tabLst>
                <a:tab pos="525780" algn="l"/>
              </a:tabLst>
            </a:pPr>
            <a:r>
              <a:rPr lang="en-US" dirty="0">
                <a:latin typeface="Times New Roman"/>
                <a:cs typeface="Times New Roman"/>
              </a:rPr>
              <a:t>Absence of centralized system.</a:t>
            </a:r>
            <a:endParaRPr lang="en-US" sz="18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object 9"/>
          <p:cNvPicPr/>
          <p:nvPr/>
        </p:nvPicPr>
        <p:blipFill>
          <a:blip r:embed="rId2" cstate="print"/>
          <a:stretch>
            <a:fillRect/>
          </a:stretch>
        </p:blipFill>
        <p:spPr>
          <a:xfrm>
            <a:off x="10316464" y="211950"/>
            <a:ext cx="1524000" cy="436765"/>
          </a:xfrm>
          <a:prstGeom prst="rect">
            <a:avLst/>
          </a:prstGeom>
        </p:spPr>
      </p:pic>
      <p:sp>
        <p:nvSpPr>
          <p:cNvPr id="10" name="object 10"/>
          <p:cNvSpPr txBox="1">
            <a:spLocks noGrp="1"/>
          </p:cNvSpPr>
          <p:nvPr>
            <p:ph type="title"/>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dirty="0"/>
              <a:t>Sandip</a:t>
            </a:r>
            <a:r>
              <a:rPr sz="1800" spc="-40" dirty="0"/>
              <a:t> </a:t>
            </a:r>
            <a:r>
              <a:rPr sz="1800" spc="-10" dirty="0"/>
              <a:t>Foundation’s,</a:t>
            </a:r>
            <a:r>
              <a:rPr sz="1800" spc="-15" dirty="0"/>
              <a:t> </a:t>
            </a:r>
            <a:r>
              <a:rPr sz="1800" dirty="0"/>
              <a:t>Sandip</a:t>
            </a:r>
            <a:r>
              <a:rPr sz="1800" spc="-35" dirty="0"/>
              <a:t> </a:t>
            </a:r>
            <a:r>
              <a:rPr sz="1800" dirty="0"/>
              <a:t>Polytechnic,</a:t>
            </a:r>
            <a:r>
              <a:rPr sz="1800" spc="-60" dirty="0"/>
              <a:t> </a:t>
            </a:r>
            <a:r>
              <a:rPr sz="1800" spc="-10" dirty="0"/>
              <a:t>Nashik</a:t>
            </a:r>
            <a:endParaRPr sz="1800"/>
          </a:p>
        </p:txBody>
      </p:sp>
      <p:pic>
        <p:nvPicPr>
          <p:cNvPr id="11" name="object 11"/>
          <p:cNvPicPr/>
          <p:nvPr/>
        </p:nvPicPr>
        <p:blipFill>
          <a:blip r:embed="rId3" cstate="print"/>
          <a:stretch>
            <a:fillRect/>
          </a:stretch>
        </p:blipFill>
        <p:spPr>
          <a:xfrm>
            <a:off x="371375" y="190588"/>
            <a:ext cx="953524" cy="545478"/>
          </a:xfrm>
          <a:prstGeom prst="rect">
            <a:avLst/>
          </a:prstGeom>
        </p:spPr>
      </p:pic>
      <p:pic>
        <p:nvPicPr>
          <p:cNvPr id="5" name="Google Shape;287;p41">
            <a:extLst>
              <a:ext uri="{FF2B5EF4-FFF2-40B4-BE49-F238E27FC236}">
                <a16:creationId xmlns:a16="http://schemas.microsoft.com/office/drawing/2014/main" id="{9D5A1030-4B6A-4DC8-C28F-8389094083F2}"/>
              </a:ext>
            </a:extLst>
          </p:cNvPr>
          <p:cNvPicPr/>
          <p:nvPr/>
        </p:nvPicPr>
        <p:blipFill>
          <a:blip r:embed="rId4">
            <a:alphaModFix amt="35000"/>
          </a:blip>
          <a:srcRect l="11023" r="13738" b="8154"/>
          <a:stretch/>
        </p:blipFill>
        <p:spPr>
          <a:xfrm rot="19904170">
            <a:off x="5208790" y="2238495"/>
            <a:ext cx="9079428" cy="6493866"/>
          </a:xfrm>
          <a:prstGeom prst="rect">
            <a:avLst/>
          </a:prstGeom>
          <a:noFill/>
          <a:ln w="0">
            <a:noFill/>
          </a:ln>
        </p:spPr>
      </p:pic>
      <p:pic>
        <p:nvPicPr>
          <p:cNvPr id="13" name="Google Shape;287;p41">
            <a:extLst>
              <a:ext uri="{FF2B5EF4-FFF2-40B4-BE49-F238E27FC236}">
                <a16:creationId xmlns:a16="http://schemas.microsoft.com/office/drawing/2014/main" id="{32253A3D-2DFB-C0C2-FC4E-F8D2B3D448DD}"/>
              </a:ext>
            </a:extLst>
          </p:cNvPr>
          <p:cNvPicPr/>
          <p:nvPr/>
        </p:nvPicPr>
        <p:blipFill>
          <a:blip r:embed="rId4">
            <a:alphaModFix amt="20000"/>
          </a:blip>
          <a:srcRect l="11023" r="13738" b="8154"/>
          <a:stretch/>
        </p:blipFill>
        <p:spPr>
          <a:xfrm rot="3400652">
            <a:off x="-1499656" y="3528416"/>
            <a:ext cx="5435931" cy="5464381"/>
          </a:xfrm>
          <a:prstGeom prst="rect">
            <a:avLst/>
          </a:prstGeom>
          <a:noFill/>
          <a:ln w="0">
            <a:noFill/>
          </a:ln>
        </p:spPr>
      </p:pic>
      <p:sp>
        <p:nvSpPr>
          <p:cNvPr id="14" name="object 14">
            <a:extLst>
              <a:ext uri="{FF2B5EF4-FFF2-40B4-BE49-F238E27FC236}">
                <a16:creationId xmlns:a16="http://schemas.microsoft.com/office/drawing/2014/main" id="{5714DBB7-E33F-0DCC-E3C3-A58C04970A7A}"/>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sp>
        <p:nvSpPr>
          <p:cNvPr id="20" name="object 11">
            <a:extLst>
              <a:ext uri="{FF2B5EF4-FFF2-40B4-BE49-F238E27FC236}">
                <a16:creationId xmlns:a16="http://schemas.microsoft.com/office/drawing/2014/main" id="{0CEA2515-9274-6BE8-5EA6-376A70AA82AE}"/>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a:t>
            </a:r>
            <a:r>
              <a:rPr lang="en-US" sz="1800" spc="-25" dirty="0">
                <a:latin typeface="Trebuchet MS"/>
                <a:cs typeface="Trebuchet MS"/>
              </a:rPr>
              <a:t>6</a:t>
            </a:r>
            <a:endParaRPr sz="1800" dirty="0">
              <a:latin typeface="Trebuchet MS"/>
              <a:cs typeface="Trebuchet MS"/>
            </a:endParaRPr>
          </a:p>
        </p:txBody>
      </p:sp>
      <p:grpSp>
        <p:nvGrpSpPr>
          <p:cNvPr id="21" name="Group 20">
            <a:extLst>
              <a:ext uri="{FF2B5EF4-FFF2-40B4-BE49-F238E27FC236}">
                <a16:creationId xmlns:a16="http://schemas.microsoft.com/office/drawing/2014/main" id="{997DE8E6-C47D-68A9-A2D2-26BF7D2031E7}"/>
              </a:ext>
            </a:extLst>
          </p:cNvPr>
          <p:cNvGrpSpPr/>
          <p:nvPr/>
        </p:nvGrpSpPr>
        <p:grpSpPr>
          <a:xfrm>
            <a:off x="593242" y="890143"/>
            <a:ext cx="11005515" cy="1091057"/>
            <a:chOff x="593242" y="890143"/>
            <a:chExt cx="11005515" cy="1091057"/>
          </a:xfrm>
        </p:grpSpPr>
        <p:sp>
          <p:nvSpPr>
            <p:cNvPr id="22" name="object 9">
              <a:extLst>
                <a:ext uri="{FF2B5EF4-FFF2-40B4-BE49-F238E27FC236}">
                  <a16:creationId xmlns:a16="http://schemas.microsoft.com/office/drawing/2014/main" id="{19F2CADC-B257-FE6B-BBC6-D54B69FD0D10}"/>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DRAWBACKS OF EXISTING SYSTEM:</a:t>
              </a:r>
            </a:p>
          </p:txBody>
        </p:sp>
        <p:grpSp>
          <p:nvGrpSpPr>
            <p:cNvPr id="24" name="Group 23">
              <a:extLst>
                <a:ext uri="{FF2B5EF4-FFF2-40B4-BE49-F238E27FC236}">
                  <a16:creationId xmlns:a16="http://schemas.microsoft.com/office/drawing/2014/main" id="{A4300E73-213A-511D-320D-BD233B5CEC64}"/>
                </a:ext>
              </a:extLst>
            </p:cNvPr>
            <p:cNvGrpSpPr/>
            <p:nvPr/>
          </p:nvGrpSpPr>
          <p:grpSpPr>
            <a:xfrm>
              <a:off x="685800" y="1860169"/>
              <a:ext cx="4857750" cy="121031"/>
              <a:chOff x="560438" y="2224532"/>
              <a:chExt cx="4857750" cy="121031"/>
            </a:xfrm>
          </p:grpSpPr>
          <p:sp>
            <p:nvSpPr>
              <p:cNvPr id="25" name="object 4">
                <a:extLst>
                  <a:ext uri="{FF2B5EF4-FFF2-40B4-BE49-F238E27FC236}">
                    <a16:creationId xmlns:a16="http://schemas.microsoft.com/office/drawing/2014/main" id="{B874FA75-77FE-DB9D-E5CA-6ADA0EDCF498}"/>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6" name="object 5">
                <a:extLst>
                  <a:ext uri="{FF2B5EF4-FFF2-40B4-BE49-F238E27FC236}">
                    <a16:creationId xmlns:a16="http://schemas.microsoft.com/office/drawing/2014/main" id="{7AE87327-8BDB-C3F5-20CB-8E12631F51C1}"/>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7" name="object 10">
            <a:extLst>
              <a:ext uri="{FF2B5EF4-FFF2-40B4-BE49-F238E27FC236}">
                <a16:creationId xmlns:a16="http://schemas.microsoft.com/office/drawing/2014/main" id="{17749C11-8A14-DE41-1200-E26FCEFBD7A3}"/>
              </a:ext>
            </a:extLst>
          </p:cNvPr>
          <p:cNvSpPr txBox="1"/>
          <p:nvPr/>
        </p:nvSpPr>
        <p:spPr>
          <a:xfrm>
            <a:off x="533400" y="2209800"/>
            <a:ext cx="10502265" cy="2785378"/>
          </a:xfrm>
          <a:prstGeom prst="rect">
            <a:avLst/>
          </a:prstGeom>
        </p:spPr>
        <p:txBody>
          <a:bodyPr vert="horz" wrap="square" lIns="0" tIns="134620" rIns="0" bIns="0" rtlCol="0">
            <a:spAutoFit/>
          </a:bodyPr>
          <a:lstStyle/>
          <a:p>
            <a:pPr marL="539746" lvl="1" indent="-269873" algn="l">
              <a:lnSpc>
                <a:spcPts val="3499"/>
              </a:lnSpc>
              <a:buFont typeface="Arial"/>
              <a:buChar char="•"/>
            </a:pPr>
            <a:r>
              <a:rPr lang="en-US" b="1" dirty="0">
                <a:solidFill>
                  <a:schemeClr val="tx1"/>
                </a:solidFill>
                <a:latin typeface="Times New Roman" panose="02020603050405020304" pitchFamily="18" charset="0"/>
                <a:ea typeface="Futura Bold"/>
                <a:cs typeface="Times New Roman" panose="02020603050405020304" pitchFamily="18" charset="0"/>
                <a:sym typeface="Futura Bold"/>
              </a:rPr>
              <a:t>Data Inconsistency:</a:t>
            </a:r>
            <a:r>
              <a:rPr lang="en-US" dirty="0">
                <a:solidFill>
                  <a:schemeClr val="tx1"/>
                </a:solidFill>
                <a:latin typeface="Times New Roman" panose="02020603050405020304" pitchFamily="18" charset="0"/>
                <a:ea typeface="Futura"/>
                <a:cs typeface="Times New Roman" panose="02020603050405020304" pitchFamily="18" charset="0"/>
                <a:sym typeface="Futura"/>
              </a:rPr>
              <a:t> Different spreadsheet formats cause non-uniform attainment results.</a:t>
            </a:r>
          </a:p>
          <a:p>
            <a:pPr marL="539746" lvl="1" indent="-269873" algn="l">
              <a:lnSpc>
                <a:spcPts val="3499"/>
              </a:lnSpc>
              <a:buFont typeface="Arial"/>
              <a:buChar char="•"/>
            </a:pPr>
            <a:r>
              <a:rPr lang="en-US" b="1" dirty="0">
                <a:solidFill>
                  <a:schemeClr val="tx1"/>
                </a:solidFill>
                <a:latin typeface="Times New Roman" panose="02020603050405020304" pitchFamily="18" charset="0"/>
                <a:ea typeface="Futura Bold"/>
                <a:cs typeface="Times New Roman" panose="02020603050405020304" pitchFamily="18" charset="0"/>
                <a:sym typeface="Futura Bold"/>
              </a:rPr>
              <a:t>Lack of Automation:</a:t>
            </a:r>
            <a:r>
              <a:rPr lang="en-US" dirty="0">
                <a:solidFill>
                  <a:schemeClr val="tx1"/>
                </a:solidFill>
                <a:latin typeface="Times New Roman" panose="02020603050405020304" pitchFamily="18" charset="0"/>
                <a:ea typeface="Futura"/>
                <a:cs typeface="Times New Roman" panose="02020603050405020304" pitchFamily="18" charset="0"/>
                <a:sym typeface="Futura"/>
              </a:rPr>
              <a:t> Manual calculations increase errors and consume time.</a:t>
            </a:r>
          </a:p>
          <a:p>
            <a:pPr marL="539746" lvl="1" indent="-269873" algn="l">
              <a:lnSpc>
                <a:spcPts val="3499"/>
              </a:lnSpc>
              <a:buFont typeface="Arial"/>
              <a:buChar char="•"/>
            </a:pPr>
            <a:r>
              <a:rPr lang="en-US" b="1" dirty="0">
                <a:solidFill>
                  <a:schemeClr val="tx1"/>
                </a:solidFill>
                <a:latin typeface="Times New Roman" panose="02020603050405020304" pitchFamily="18" charset="0"/>
                <a:ea typeface="Futura Bold"/>
                <a:cs typeface="Times New Roman" panose="02020603050405020304" pitchFamily="18" charset="0"/>
                <a:sym typeface="Futura Bold"/>
              </a:rPr>
              <a:t>Limited Audit Readiness:</a:t>
            </a:r>
            <a:r>
              <a:rPr lang="en-US" dirty="0">
                <a:solidFill>
                  <a:schemeClr val="tx1"/>
                </a:solidFill>
                <a:latin typeface="Times New Roman" panose="02020603050405020304" pitchFamily="18" charset="0"/>
                <a:ea typeface="Futura"/>
                <a:cs typeface="Times New Roman" panose="02020603050405020304" pitchFamily="18" charset="0"/>
                <a:sym typeface="Futura"/>
              </a:rPr>
              <a:t> Report generation for accreditation requires extensive manual compilation.</a:t>
            </a:r>
          </a:p>
          <a:p>
            <a:pPr marL="539746" lvl="1" indent="-269873" algn="l">
              <a:lnSpc>
                <a:spcPts val="3499"/>
              </a:lnSpc>
              <a:buFont typeface="Arial"/>
              <a:buChar char="•"/>
            </a:pPr>
            <a:r>
              <a:rPr lang="en-US" b="1" dirty="0">
                <a:solidFill>
                  <a:schemeClr val="tx1"/>
                </a:solidFill>
                <a:latin typeface="Times New Roman" panose="02020603050405020304" pitchFamily="18" charset="0"/>
                <a:ea typeface="Futura Bold"/>
                <a:cs typeface="Times New Roman" panose="02020603050405020304" pitchFamily="18" charset="0"/>
                <a:sym typeface="Futura Bold"/>
              </a:rPr>
              <a:t>Poor Data Security:</a:t>
            </a:r>
            <a:r>
              <a:rPr lang="en-US" dirty="0">
                <a:solidFill>
                  <a:schemeClr val="tx1"/>
                </a:solidFill>
                <a:latin typeface="Times New Roman" panose="02020603050405020304" pitchFamily="18" charset="0"/>
                <a:ea typeface="Futura"/>
                <a:cs typeface="Times New Roman" panose="02020603050405020304" pitchFamily="18" charset="0"/>
                <a:sym typeface="Futura"/>
              </a:rPr>
              <a:t> Spreadsheet files can be modified without proper authorization.</a:t>
            </a:r>
          </a:p>
          <a:p>
            <a:pPr marL="539746" lvl="1" indent="-269873" algn="l">
              <a:lnSpc>
                <a:spcPts val="3499"/>
              </a:lnSpc>
              <a:buFont typeface="Arial"/>
              <a:buChar char="•"/>
            </a:pPr>
            <a:r>
              <a:rPr lang="en-US" b="1" dirty="0">
                <a:solidFill>
                  <a:schemeClr val="tx1"/>
                </a:solidFill>
                <a:latin typeface="Times New Roman" panose="02020603050405020304" pitchFamily="18" charset="0"/>
                <a:ea typeface="Futura Bold"/>
                <a:cs typeface="Times New Roman" panose="02020603050405020304" pitchFamily="18" charset="0"/>
                <a:sym typeface="Futura Bold"/>
              </a:rPr>
              <a:t>Increased Faculty Workload:</a:t>
            </a:r>
            <a:r>
              <a:rPr lang="en-US" dirty="0">
                <a:solidFill>
                  <a:schemeClr val="tx1"/>
                </a:solidFill>
                <a:latin typeface="Times New Roman" panose="02020603050405020304" pitchFamily="18" charset="0"/>
                <a:ea typeface="Futura"/>
                <a:cs typeface="Times New Roman" panose="02020603050405020304" pitchFamily="18" charset="0"/>
                <a:sym typeface="Futura"/>
              </a:rPr>
              <a:t> Repetitive documentation and calculations reduce productivity.</a:t>
            </a:r>
          </a:p>
          <a:p>
            <a:pPr marL="12065" marR="6985">
              <a:lnSpc>
                <a:spcPct val="100000"/>
              </a:lnSpc>
              <a:spcBef>
                <a:spcPts val="960"/>
              </a:spcBef>
              <a:tabLst>
                <a:tab pos="525780" algn="l"/>
              </a:tabLst>
            </a:pPr>
            <a:endParaRPr lang="en-IN" dirty="0">
              <a:solidFill>
                <a:schemeClr val="tx1"/>
              </a:solidFill>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6559-9B1F-B79E-3C03-37450E68DA36}"/>
            </a:ext>
          </a:extLst>
        </p:cNvPr>
        <p:cNvGrpSpPr/>
        <p:nvPr/>
      </p:nvGrpSpPr>
      <p:grpSpPr>
        <a:xfrm>
          <a:off x="0" y="0"/>
          <a:ext cx="0" cy="0"/>
          <a:chOff x="0" y="0"/>
          <a:chExt cx="0" cy="0"/>
        </a:xfrm>
      </p:grpSpPr>
      <p:pic>
        <p:nvPicPr>
          <p:cNvPr id="13" name="Google Shape;287;p41">
            <a:extLst>
              <a:ext uri="{FF2B5EF4-FFF2-40B4-BE49-F238E27FC236}">
                <a16:creationId xmlns:a16="http://schemas.microsoft.com/office/drawing/2014/main" id="{E80FF97F-68AE-1DA1-6C45-864C851A6A1C}"/>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4" name="Google Shape;287;p41">
            <a:extLst>
              <a:ext uri="{FF2B5EF4-FFF2-40B4-BE49-F238E27FC236}">
                <a16:creationId xmlns:a16="http://schemas.microsoft.com/office/drawing/2014/main" id="{EF1E5ECF-9C85-9191-4A81-A20F4CFD4787}"/>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6" name="object 6">
            <a:extLst>
              <a:ext uri="{FF2B5EF4-FFF2-40B4-BE49-F238E27FC236}">
                <a16:creationId xmlns:a16="http://schemas.microsoft.com/office/drawing/2014/main" id="{30767EAE-FB05-092D-3466-708CDC2392B3}"/>
              </a:ext>
            </a:extLst>
          </p:cNvPr>
          <p:cNvPicPr/>
          <p:nvPr/>
        </p:nvPicPr>
        <p:blipFill>
          <a:blip r:embed="rId3" cstate="print"/>
          <a:stretch>
            <a:fillRect/>
          </a:stretch>
        </p:blipFill>
        <p:spPr>
          <a:xfrm>
            <a:off x="10316464" y="211950"/>
            <a:ext cx="1524000" cy="436765"/>
          </a:xfrm>
          <a:prstGeom prst="rect">
            <a:avLst/>
          </a:prstGeom>
        </p:spPr>
      </p:pic>
      <p:sp>
        <p:nvSpPr>
          <p:cNvPr id="7" name="object 7">
            <a:extLst>
              <a:ext uri="{FF2B5EF4-FFF2-40B4-BE49-F238E27FC236}">
                <a16:creationId xmlns:a16="http://schemas.microsoft.com/office/drawing/2014/main" id="{E03F556A-FE60-2B40-60D1-507DA62E2812}"/>
              </a:ext>
            </a:extLst>
          </p:cNvPr>
          <p:cNvSpPr txBox="1">
            <a:spLocks noGrp="1"/>
          </p:cNvSpPr>
          <p:nvPr>
            <p:ph type="title"/>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dirty="0"/>
              <a:t>Sandip</a:t>
            </a:r>
            <a:r>
              <a:rPr sz="1800" spc="-40" dirty="0"/>
              <a:t> </a:t>
            </a:r>
            <a:r>
              <a:rPr sz="1800" spc="-10" dirty="0"/>
              <a:t>Foundation’s,</a:t>
            </a:r>
            <a:r>
              <a:rPr sz="1800" spc="-15" dirty="0"/>
              <a:t> </a:t>
            </a:r>
            <a:r>
              <a:rPr sz="1800" dirty="0"/>
              <a:t>Sandip</a:t>
            </a:r>
            <a:r>
              <a:rPr sz="1800" spc="-35" dirty="0"/>
              <a:t> </a:t>
            </a:r>
            <a:r>
              <a:rPr sz="1800" dirty="0"/>
              <a:t>Polytechnic,</a:t>
            </a:r>
            <a:r>
              <a:rPr sz="1800" spc="-60" dirty="0"/>
              <a:t> </a:t>
            </a:r>
            <a:r>
              <a:rPr sz="1800" spc="-10" dirty="0"/>
              <a:t>Nashik</a:t>
            </a:r>
            <a:endParaRPr sz="1800"/>
          </a:p>
        </p:txBody>
      </p:sp>
      <p:pic>
        <p:nvPicPr>
          <p:cNvPr id="8" name="object 8">
            <a:extLst>
              <a:ext uri="{FF2B5EF4-FFF2-40B4-BE49-F238E27FC236}">
                <a16:creationId xmlns:a16="http://schemas.microsoft.com/office/drawing/2014/main" id="{50C2E12A-940B-C513-D2F0-428B2D3B1AA6}"/>
              </a:ext>
            </a:extLst>
          </p:cNvPr>
          <p:cNvPicPr/>
          <p:nvPr/>
        </p:nvPicPr>
        <p:blipFill>
          <a:blip r:embed="rId4" cstate="print"/>
          <a:stretch>
            <a:fillRect/>
          </a:stretch>
        </p:blipFill>
        <p:spPr>
          <a:xfrm>
            <a:off x="371375" y="190588"/>
            <a:ext cx="953524" cy="545478"/>
          </a:xfrm>
          <a:prstGeom prst="rect">
            <a:avLst/>
          </a:prstGeom>
        </p:spPr>
      </p:pic>
      <p:sp>
        <p:nvSpPr>
          <p:cNvPr id="11" name="object 11">
            <a:extLst>
              <a:ext uri="{FF2B5EF4-FFF2-40B4-BE49-F238E27FC236}">
                <a16:creationId xmlns:a16="http://schemas.microsoft.com/office/drawing/2014/main" id="{A32ABD07-997E-AA71-F38E-A423E19BD1BD}"/>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a:t>
            </a:r>
            <a:r>
              <a:rPr lang="en-US" sz="1800" spc="-25" dirty="0">
                <a:latin typeface="Trebuchet MS"/>
                <a:cs typeface="Trebuchet MS"/>
              </a:rPr>
              <a:t>7</a:t>
            </a:r>
            <a:endParaRPr sz="1800" dirty="0">
              <a:latin typeface="Trebuchet MS"/>
              <a:cs typeface="Trebuchet MS"/>
            </a:endParaRPr>
          </a:p>
        </p:txBody>
      </p:sp>
      <p:sp>
        <p:nvSpPr>
          <p:cNvPr id="2" name="object 14">
            <a:extLst>
              <a:ext uri="{FF2B5EF4-FFF2-40B4-BE49-F238E27FC236}">
                <a16:creationId xmlns:a16="http://schemas.microsoft.com/office/drawing/2014/main" id="{10EFEC37-0FCA-1DCA-5191-6E9EB92CC571}"/>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3" name="Group 2">
            <a:extLst>
              <a:ext uri="{FF2B5EF4-FFF2-40B4-BE49-F238E27FC236}">
                <a16:creationId xmlns:a16="http://schemas.microsoft.com/office/drawing/2014/main" id="{DB88DB10-ABED-0710-2D63-829967D8B913}"/>
              </a:ext>
            </a:extLst>
          </p:cNvPr>
          <p:cNvGrpSpPr/>
          <p:nvPr/>
        </p:nvGrpSpPr>
        <p:grpSpPr>
          <a:xfrm>
            <a:off x="593242" y="890143"/>
            <a:ext cx="11005515" cy="1091057"/>
            <a:chOff x="593242" y="890143"/>
            <a:chExt cx="11005515" cy="1091057"/>
          </a:xfrm>
        </p:grpSpPr>
        <p:sp>
          <p:nvSpPr>
            <p:cNvPr id="12" name="object 9">
              <a:extLst>
                <a:ext uri="{FF2B5EF4-FFF2-40B4-BE49-F238E27FC236}">
                  <a16:creationId xmlns:a16="http://schemas.microsoft.com/office/drawing/2014/main" id="{3C20A590-78A9-7103-7B7C-DFD7034B5933}"/>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PROPOSED SYSTEM:</a:t>
              </a:r>
            </a:p>
          </p:txBody>
        </p:sp>
        <p:grpSp>
          <p:nvGrpSpPr>
            <p:cNvPr id="15" name="Group 14">
              <a:extLst>
                <a:ext uri="{FF2B5EF4-FFF2-40B4-BE49-F238E27FC236}">
                  <a16:creationId xmlns:a16="http://schemas.microsoft.com/office/drawing/2014/main" id="{82D788F9-92ED-8625-5070-9A4ACAABEC67}"/>
                </a:ext>
              </a:extLst>
            </p:cNvPr>
            <p:cNvGrpSpPr/>
            <p:nvPr/>
          </p:nvGrpSpPr>
          <p:grpSpPr>
            <a:xfrm>
              <a:off x="685800" y="1860169"/>
              <a:ext cx="4857750" cy="121031"/>
              <a:chOff x="560438" y="2224532"/>
              <a:chExt cx="4857750" cy="121031"/>
            </a:xfrm>
          </p:grpSpPr>
          <p:sp>
            <p:nvSpPr>
              <p:cNvPr id="16" name="object 4">
                <a:extLst>
                  <a:ext uri="{FF2B5EF4-FFF2-40B4-BE49-F238E27FC236}">
                    <a16:creationId xmlns:a16="http://schemas.microsoft.com/office/drawing/2014/main" id="{FC6A7AA1-3FE9-37BF-1F15-D852C9F467FD}"/>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17" name="object 5">
                <a:extLst>
                  <a:ext uri="{FF2B5EF4-FFF2-40B4-BE49-F238E27FC236}">
                    <a16:creationId xmlns:a16="http://schemas.microsoft.com/office/drawing/2014/main" id="{C46B58C4-B1F5-9CCA-DD9D-BFEDB25A5532}"/>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18" name="object 10">
            <a:extLst>
              <a:ext uri="{FF2B5EF4-FFF2-40B4-BE49-F238E27FC236}">
                <a16:creationId xmlns:a16="http://schemas.microsoft.com/office/drawing/2014/main" id="{FADCEF73-E530-89AE-0093-24B57186311B}"/>
              </a:ext>
            </a:extLst>
          </p:cNvPr>
          <p:cNvSpPr txBox="1"/>
          <p:nvPr/>
        </p:nvSpPr>
        <p:spPr>
          <a:xfrm>
            <a:off x="620674" y="2286000"/>
            <a:ext cx="10502265" cy="3606115"/>
          </a:xfrm>
          <a:prstGeom prst="rect">
            <a:avLst/>
          </a:prstGeom>
        </p:spPr>
        <p:txBody>
          <a:bodyPr vert="horz" wrap="square" lIns="0" tIns="134620" rIns="0" bIns="0" rtlCol="0">
            <a:spAutoFit/>
          </a:bodyPr>
          <a:lstStyle/>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Automates CO-PO-PSO attainment calculations using assessment data</a:t>
            </a:r>
          </a:p>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Enables direct faculty entry of CIS and assessment marks</a:t>
            </a:r>
          </a:p>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Maintains a centralized academic </a:t>
            </a:r>
            <a:r>
              <a:rPr lang="en-US" dirty="0">
                <a:solidFill>
                  <a:schemeClr val="tx1"/>
                </a:solidFill>
                <a:latin typeface="Times New Roman" panose="02020603050405020304" pitchFamily="18" charset="0"/>
                <a:ea typeface="Futura"/>
                <a:cs typeface="Times New Roman" panose="02020603050405020304" pitchFamily="18" charset="0"/>
                <a:sym typeface="Futura"/>
              </a:rPr>
              <a:t>database</a:t>
            </a:r>
            <a:r>
              <a:rPr lang="en-US" dirty="0">
                <a:solidFill>
                  <a:srgbClr val="0A0147"/>
                </a:solidFill>
                <a:latin typeface="Times New Roman" panose="02020603050405020304" pitchFamily="18" charset="0"/>
                <a:ea typeface="Futura"/>
                <a:cs typeface="Times New Roman" panose="02020603050405020304" pitchFamily="18" charset="0"/>
                <a:sym typeface="Futura"/>
              </a:rPr>
              <a:t> for performance analysis</a:t>
            </a:r>
          </a:p>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 Indirect survey responses are directly stored and processed, eliminating manual score entry by faculty</a:t>
            </a:r>
          </a:p>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Provides role-based access control </a:t>
            </a:r>
          </a:p>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Automatically generates accreditation-ready reports</a:t>
            </a:r>
          </a:p>
          <a:p>
            <a:pPr marL="518157" lvl="1" indent="-259078" algn="l">
              <a:lnSpc>
                <a:spcPts val="3359"/>
              </a:lnSpc>
              <a:buFont typeface="Arial"/>
              <a:buChar char="•"/>
            </a:pPr>
            <a:r>
              <a:rPr lang="en-US" dirty="0">
                <a:solidFill>
                  <a:srgbClr val="0A0147"/>
                </a:solidFill>
                <a:latin typeface="Times New Roman" panose="02020603050405020304" pitchFamily="18" charset="0"/>
                <a:ea typeface="Futura"/>
                <a:cs typeface="Times New Roman" panose="02020603050405020304" pitchFamily="18" charset="0"/>
                <a:sym typeface="Futura"/>
              </a:rPr>
              <a:t>Supports bulk data upload, audit logs, and data security</a:t>
            </a:r>
          </a:p>
          <a:p>
            <a:pPr marL="298450" indent="-285750">
              <a:lnSpc>
                <a:spcPct val="100000"/>
              </a:lnSpc>
              <a:spcBef>
                <a:spcPts val="1060"/>
              </a:spcBef>
              <a:buFont typeface="Arial" panose="020B0604020202020204" pitchFamily="34" charset="0"/>
              <a:buChar char="•"/>
              <a:tabLst>
                <a:tab pos="525780" algn="l"/>
              </a:tabLst>
            </a:pPr>
            <a:endParaRPr lang="en-US" sz="1800" dirty="0">
              <a:latin typeface="Times New Roman"/>
              <a:cs typeface="Times New Roman"/>
            </a:endParaRPr>
          </a:p>
        </p:txBody>
      </p:sp>
    </p:spTree>
    <p:extLst>
      <p:ext uri="{BB962C8B-B14F-4D97-AF65-F5344CB8AC3E}">
        <p14:creationId xmlns:p14="http://schemas.microsoft.com/office/powerpoint/2010/main" val="2652105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87;p41">
            <a:extLst>
              <a:ext uri="{FF2B5EF4-FFF2-40B4-BE49-F238E27FC236}">
                <a16:creationId xmlns:a16="http://schemas.microsoft.com/office/drawing/2014/main" id="{7161C5E5-3B2F-5E49-7158-4B55BBC2F454}"/>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3" name="Google Shape;287;p41">
            <a:extLst>
              <a:ext uri="{FF2B5EF4-FFF2-40B4-BE49-F238E27FC236}">
                <a16:creationId xmlns:a16="http://schemas.microsoft.com/office/drawing/2014/main" id="{30C26FD9-939D-27BC-5EB9-3E06B83D8C8C}"/>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4" name="object 8">
            <a:extLst>
              <a:ext uri="{FF2B5EF4-FFF2-40B4-BE49-F238E27FC236}">
                <a16:creationId xmlns:a16="http://schemas.microsoft.com/office/drawing/2014/main" id="{F3CD3208-5658-26B8-C6B3-6C97D1D60773}"/>
              </a:ext>
            </a:extLst>
          </p:cNvPr>
          <p:cNvPicPr/>
          <p:nvPr/>
        </p:nvPicPr>
        <p:blipFill>
          <a:blip r:embed="rId3" cstate="print"/>
          <a:stretch>
            <a:fillRect/>
          </a:stretch>
        </p:blipFill>
        <p:spPr>
          <a:xfrm>
            <a:off x="10316464" y="211950"/>
            <a:ext cx="1489926" cy="411073"/>
          </a:xfrm>
          <a:prstGeom prst="rect">
            <a:avLst/>
          </a:prstGeom>
        </p:spPr>
      </p:pic>
      <p:sp>
        <p:nvSpPr>
          <p:cNvPr id="5" name="object 9">
            <a:extLst>
              <a:ext uri="{FF2B5EF4-FFF2-40B4-BE49-F238E27FC236}">
                <a16:creationId xmlns:a16="http://schemas.microsoft.com/office/drawing/2014/main" id="{9CAF91BC-E45C-22D7-B628-242770E47807}"/>
              </a:ext>
            </a:extLst>
          </p:cNvPr>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6" name="object 10">
            <a:extLst>
              <a:ext uri="{FF2B5EF4-FFF2-40B4-BE49-F238E27FC236}">
                <a16:creationId xmlns:a16="http://schemas.microsoft.com/office/drawing/2014/main" id="{AA21B43A-1317-19ED-3E2F-930D95FF2C49}"/>
              </a:ext>
            </a:extLst>
          </p:cNvPr>
          <p:cNvPicPr/>
          <p:nvPr/>
        </p:nvPicPr>
        <p:blipFill>
          <a:blip r:embed="rId4" cstate="print"/>
          <a:stretch>
            <a:fillRect/>
          </a:stretch>
        </p:blipFill>
        <p:spPr>
          <a:xfrm>
            <a:off x="371375" y="190588"/>
            <a:ext cx="953524" cy="545478"/>
          </a:xfrm>
          <a:prstGeom prst="rect">
            <a:avLst/>
          </a:prstGeom>
        </p:spPr>
      </p:pic>
      <p:sp>
        <p:nvSpPr>
          <p:cNvPr id="7" name="object 14">
            <a:extLst>
              <a:ext uri="{FF2B5EF4-FFF2-40B4-BE49-F238E27FC236}">
                <a16:creationId xmlns:a16="http://schemas.microsoft.com/office/drawing/2014/main" id="{E97F4A60-9213-1F23-8C18-A8F5396BC46B}"/>
              </a:ext>
            </a:extLst>
          </p:cNvPr>
          <p:cNvSpPr txBox="1">
            <a:spLocks noGrp="1"/>
          </p:cNvSpPr>
          <p:nvPr>
            <p:ph type="ftr" sz="quarter" idx="5"/>
          </p:nvPr>
        </p:nvSpPr>
        <p:spPr>
          <a:xfrm>
            <a:off x="2590800" y="6350044"/>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sp>
        <p:nvSpPr>
          <p:cNvPr id="8" name="object 11">
            <a:extLst>
              <a:ext uri="{FF2B5EF4-FFF2-40B4-BE49-F238E27FC236}">
                <a16:creationId xmlns:a16="http://schemas.microsoft.com/office/drawing/2014/main" id="{0DECCACE-9AF5-C7B8-304D-F93CEF5D30A5}"/>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a:t>
            </a:r>
            <a:r>
              <a:rPr lang="en-US" sz="1800" spc="-25" dirty="0">
                <a:latin typeface="Trebuchet MS"/>
                <a:cs typeface="Trebuchet MS"/>
              </a:rPr>
              <a:t>8</a:t>
            </a:r>
            <a:endParaRPr sz="1800" dirty="0">
              <a:latin typeface="Trebuchet MS"/>
              <a:cs typeface="Trebuchet MS"/>
            </a:endParaRPr>
          </a:p>
        </p:txBody>
      </p:sp>
      <p:grpSp>
        <p:nvGrpSpPr>
          <p:cNvPr id="9" name="Group 8">
            <a:extLst>
              <a:ext uri="{FF2B5EF4-FFF2-40B4-BE49-F238E27FC236}">
                <a16:creationId xmlns:a16="http://schemas.microsoft.com/office/drawing/2014/main" id="{46F84208-AB30-8F57-59C6-FB123CEA8DE8}"/>
              </a:ext>
            </a:extLst>
          </p:cNvPr>
          <p:cNvGrpSpPr/>
          <p:nvPr/>
        </p:nvGrpSpPr>
        <p:grpSpPr>
          <a:xfrm>
            <a:off x="593242" y="609600"/>
            <a:ext cx="11005515" cy="990600"/>
            <a:chOff x="593242" y="609600"/>
            <a:chExt cx="11005515" cy="990600"/>
          </a:xfrm>
        </p:grpSpPr>
        <p:sp>
          <p:nvSpPr>
            <p:cNvPr id="10" name="object 9">
              <a:extLst>
                <a:ext uri="{FF2B5EF4-FFF2-40B4-BE49-F238E27FC236}">
                  <a16:creationId xmlns:a16="http://schemas.microsoft.com/office/drawing/2014/main" id="{D9628CCB-F85E-CF0B-489C-BD69A69EBB96}"/>
                </a:ext>
              </a:extLst>
            </p:cNvPr>
            <p:cNvSpPr txBox="1">
              <a:spLocks/>
            </p:cNvSpPr>
            <p:nvPr/>
          </p:nvSpPr>
          <p:spPr>
            <a:xfrm>
              <a:off x="593242" y="609600"/>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USECASE DIAGRAM:</a:t>
              </a:r>
            </a:p>
          </p:txBody>
        </p:sp>
        <p:grpSp>
          <p:nvGrpSpPr>
            <p:cNvPr id="11" name="Group 10">
              <a:extLst>
                <a:ext uri="{FF2B5EF4-FFF2-40B4-BE49-F238E27FC236}">
                  <a16:creationId xmlns:a16="http://schemas.microsoft.com/office/drawing/2014/main" id="{4BB35326-7976-002A-6820-E4BCCE9A8F13}"/>
                </a:ext>
              </a:extLst>
            </p:cNvPr>
            <p:cNvGrpSpPr/>
            <p:nvPr/>
          </p:nvGrpSpPr>
          <p:grpSpPr>
            <a:xfrm>
              <a:off x="704850" y="1442181"/>
              <a:ext cx="4019550" cy="158019"/>
              <a:chOff x="579488" y="1806544"/>
              <a:chExt cx="4019550" cy="158019"/>
            </a:xfrm>
          </p:grpSpPr>
          <p:sp>
            <p:nvSpPr>
              <p:cNvPr id="12" name="object 4">
                <a:extLst>
                  <a:ext uri="{FF2B5EF4-FFF2-40B4-BE49-F238E27FC236}">
                    <a16:creationId xmlns:a16="http://schemas.microsoft.com/office/drawing/2014/main" id="{E6A7A375-1F3A-78F8-ECE0-1DF873AEF6B6}"/>
                  </a:ext>
                </a:extLst>
              </p:cNvPr>
              <p:cNvSpPr/>
              <p:nvPr/>
            </p:nvSpPr>
            <p:spPr>
              <a:xfrm flipV="1">
                <a:off x="579488" y="1806544"/>
                <a:ext cx="4019550" cy="45719"/>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13" name="object 5">
                <a:extLst>
                  <a:ext uri="{FF2B5EF4-FFF2-40B4-BE49-F238E27FC236}">
                    <a16:creationId xmlns:a16="http://schemas.microsoft.com/office/drawing/2014/main" id="{40C51125-EE4D-E3FC-4194-D4C6E7496BBC}"/>
                  </a:ext>
                </a:extLst>
              </p:cNvPr>
              <p:cNvSpPr/>
              <p:nvPr/>
            </p:nvSpPr>
            <p:spPr>
              <a:xfrm flipV="1">
                <a:off x="579488" y="1918844"/>
                <a:ext cx="4019550" cy="45719"/>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pic>
        <p:nvPicPr>
          <p:cNvPr id="16" name="Picture 15">
            <a:extLst>
              <a:ext uri="{FF2B5EF4-FFF2-40B4-BE49-F238E27FC236}">
                <a16:creationId xmlns:a16="http://schemas.microsoft.com/office/drawing/2014/main" id="{58AB2E6E-3ED4-F837-6FF9-136C341E5BE4}"/>
              </a:ext>
            </a:extLst>
          </p:cNvPr>
          <p:cNvPicPr>
            <a:picLocks noChangeAspect="1"/>
          </p:cNvPicPr>
          <p:nvPr/>
        </p:nvPicPr>
        <p:blipFill>
          <a:blip r:embed="rId5">
            <a:extLst>
              <a:ext uri="{28A0092B-C50C-407E-A947-70E740481C1C}">
                <a14:useLocalDpi xmlns:a14="http://schemas.microsoft.com/office/drawing/2010/main" val="0"/>
              </a:ext>
            </a:extLst>
          </a:blip>
          <a:srcRect r="645"/>
          <a:stretch>
            <a:fillRect/>
          </a:stretch>
        </p:blipFill>
        <p:spPr>
          <a:xfrm>
            <a:off x="5791200" y="838200"/>
            <a:ext cx="5681960" cy="5739765"/>
          </a:xfrm>
          <a:prstGeom prst="rect">
            <a:avLst/>
          </a:prstGeom>
        </p:spPr>
      </p:pic>
      <p:sp>
        <p:nvSpPr>
          <p:cNvPr id="17" name="TextBox 16">
            <a:extLst>
              <a:ext uri="{FF2B5EF4-FFF2-40B4-BE49-F238E27FC236}">
                <a16:creationId xmlns:a16="http://schemas.microsoft.com/office/drawing/2014/main" id="{04E49761-41F8-9294-9016-B196796E3C6D}"/>
              </a:ext>
            </a:extLst>
          </p:cNvPr>
          <p:cNvSpPr txBox="1"/>
          <p:nvPr/>
        </p:nvSpPr>
        <p:spPr>
          <a:xfrm>
            <a:off x="882483" y="2221941"/>
            <a:ext cx="3028080" cy="2662267"/>
          </a:xfrm>
          <a:prstGeom prst="rect">
            <a:avLst/>
          </a:prstGeom>
          <a:noFill/>
        </p:spPr>
        <p:txBody>
          <a:bodyPr wrap="square" rtlCol="0">
            <a:spAutoFit/>
          </a:bodyPr>
          <a:lstStyle/>
          <a:p>
            <a:r>
              <a:rPr lang="en-US" dirty="0">
                <a:solidFill>
                  <a:schemeClr val="tx1"/>
                </a:solidFill>
                <a:latin typeface="Times New Roman" panose="02020603050405020304" pitchFamily="18" charset="0"/>
                <a:cs typeface="Times New Roman" panose="02020603050405020304" pitchFamily="18" charset="0"/>
              </a:rPr>
              <a:t>Actors in Use case</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1. Admin</a:t>
            </a:r>
          </a:p>
          <a:p>
            <a:endParaRPr lang="en-US" sz="100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2. HOD</a:t>
            </a:r>
          </a:p>
          <a:p>
            <a:endParaRPr lang="en-US" sz="100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3. Coordinator</a:t>
            </a:r>
          </a:p>
          <a:p>
            <a:endParaRPr lang="en-US" sz="100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4. Faculty</a:t>
            </a:r>
          </a:p>
          <a:p>
            <a:endParaRPr lang="en-US" sz="100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5. Auditor</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199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023C-C856-8EBB-D099-01640745F791}"/>
              </a:ext>
            </a:extLst>
          </p:cNvPr>
          <p:cNvSpPr>
            <a:spLocks noGrp="1"/>
          </p:cNvSpPr>
          <p:nvPr>
            <p:ph type="title"/>
          </p:nvPr>
        </p:nvSpPr>
        <p:spPr>
          <a:xfrm>
            <a:off x="152400" y="0"/>
            <a:ext cx="12115800" cy="6401753"/>
          </a:xfrm>
        </p:spPr>
        <p:txBody>
          <a:bodyPr/>
          <a:lstStyle/>
          <a:p>
            <a:br>
              <a:rPr lang="en-US" dirty="0"/>
            </a:br>
            <a:r>
              <a:rPr lang="en-US" dirty="0"/>
              <a:t>  </a:t>
            </a:r>
            <a:br>
              <a:rPr lang="en-US" dirty="0"/>
            </a:br>
            <a:r>
              <a:rPr lang="en-US" dirty="0"/>
              <a:t> </a:t>
            </a:r>
            <a:br>
              <a:rPr lang="en-US" dirty="0"/>
            </a:br>
            <a:r>
              <a:rPr lang="en-US" dirty="0"/>
              <a:t>     </a:t>
            </a:r>
            <a:br>
              <a:rPr lang="en-US" dirty="0"/>
            </a:br>
            <a:r>
              <a:rPr lang="en-US" dirty="0"/>
              <a:t>          </a:t>
            </a:r>
            <a:br>
              <a:rPr lang="en-US" dirty="0"/>
            </a:br>
            <a:br>
              <a:rPr lang="en-US" dirty="0"/>
            </a:br>
            <a:br>
              <a:rPr lang="en-US" dirty="0"/>
            </a:br>
            <a:br>
              <a:rPr lang="en-US" dirty="0"/>
            </a:br>
            <a:br>
              <a:rPr lang="en-US" dirty="0"/>
            </a:br>
            <a:br>
              <a:rPr lang="en-US" dirty="0"/>
            </a:br>
            <a:br>
              <a:rPr lang="en-US" dirty="0"/>
            </a:br>
            <a:br>
              <a:rPr lang="en-US" dirty="0"/>
            </a:br>
            <a:r>
              <a:rPr lang="en-US" dirty="0"/>
              <a:t> </a:t>
            </a:r>
            <a:endParaRPr lang="en-IN" dirty="0"/>
          </a:p>
        </p:txBody>
      </p:sp>
      <p:pic>
        <p:nvPicPr>
          <p:cNvPr id="9" name="Google Shape;287;p41">
            <a:extLst>
              <a:ext uri="{FF2B5EF4-FFF2-40B4-BE49-F238E27FC236}">
                <a16:creationId xmlns:a16="http://schemas.microsoft.com/office/drawing/2014/main" id="{0BFF2FCD-E68C-E61A-73B4-DF51D356961A}"/>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0" name="Google Shape;287;p41">
            <a:extLst>
              <a:ext uri="{FF2B5EF4-FFF2-40B4-BE49-F238E27FC236}">
                <a16:creationId xmlns:a16="http://schemas.microsoft.com/office/drawing/2014/main" id="{1D863A44-7127-B08C-4B34-A40E49D0581B}"/>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sp>
        <p:nvSpPr>
          <p:cNvPr id="8" name="TextBox 7">
            <a:extLst>
              <a:ext uri="{FF2B5EF4-FFF2-40B4-BE49-F238E27FC236}">
                <a16:creationId xmlns:a16="http://schemas.microsoft.com/office/drawing/2014/main" id="{19B24F81-C2CD-04DD-87F0-229A09B8B633}"/>
              </a:ext>
            </a:extLst>
          </p:cNvPr>
          <p:cNvSpPr txBox="1"/>
          <p:nvPr/>
        </p:nvSpPr>
        <p:spPr>
          <a:xfrm>
            <a:off x="381000" y="2514616"/>
            <a:ext cx="10591799" cy="872034"/>
          </a:xfrm>
          <a:prstGeom prst="rect">
            <a:avLst/>
          </a:prstGeom>
          <a:noFill/>
        </p:spPr>
        <p:txBody>
          <a:bodyPr wrap="square">
            <a:spAutoFit/>
          </a:bodyPr>
          <a:lstStyle/>
          <a:p>
            <a:pPr marL="285750" indent="-285750">
              <a:lnSpc>
                <a:spcPct val="150000"/>
              </a:lnSpc>
              <a:buFont typeface="Arial" panose="020B0604020202020204" pitchFamily="34" charset="0"/>
              <a:buChar char="•"/>
            </a:pPr>
            <a:endParaRPr lang="en-IN" dirty="0"/>
          </a:p>
          <a:p>
            <a:pPr>
              <a:lnSpc>
                <a:spcPct val="150000"/>
              </a:lnSpc>
            </a:pPr>
            <a:endParaRPr lang="en-IN" dirty="0"/>
          </a:p>
        </p:txBody>
      </p:sp>
      <p:sp>
        <p:nvSpPr>
          <p:cNvPr id="11" name="object 14">
            <a:extLst>
              <a:ext uri="{FF2B5EF4-FFF2-40B4-BE49-F238E27FC236}">
                <a16:creationId xmlns:a16="http://schemas.microsoft.com/office/drawing/2014/main" id="{B4CDC9E8-71B1-7A20-1BFC-CB7D2F3851E2}"/>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12" name="Group 11">
            <a:extLst>
              <a:ext uri="{FF2B5EF4-FFF2-40B4-BE49-F238E27FC236}">
                <a16:creationId xmlns:a16="http://schemas.microsoft.com/office/drawing/2014/main" id="{DAC8629A-25EF-B430-61C2-C4286EDFCFAD}"/>
              </a:ext>
            </a:extLst>
          </p:cNvPr>
          <p:cNvGrpSpPr/>
          <p:nvPr/>
        </p:nvGrpSpPr>
        <p:grpSpPr>
          <a:xfrm>
            <a:off x="517042" y="762835"/>
            <a:ext cx="11005515" cy="989765"/>
            <a:chOff x="517042" y="762835"/>
            <a:chExt cx="11005515" cy="989765"/>
          </a:xfrm>
        </p:grpSpPr>
        <p:sp>
          <p:nvSpPr>
            <p:cNvPr id="13" name="object 9">
              <a:extLst>
                <a:ext uri="{FF2B5EF4-FFF2-40B4-BE49-F238E27FC236}">
                  <a16:creationId xmlns:a16="http://schemas.microsoft.com/office/drawing/2014/main" id="{44681A2B-AAE5-0094-6E85-9BF8FAFE9A4F}"/>
                </a:ext>
              </a:extLst>
            </p:cNvPr>
            <p:cNvSpPr txBox="1">
              <a:spLocks/>
            </p:cNvSpPr>
            <p:nvPr/>
          </p:nvSpPr>
          <p:spPr>
            <a:xfrm>
              <a:off x="517042" y="762835"/>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SYSTEM ARCHITECTURE:</a:t>
              </a:r>
            </a:p>
          </p:txBody>
        </p:sp>
        <p:grpSp>
          <p:nvGrpSpPr>
            <p:cNvPr id="14" name="Group 13">
              <a:extLst>
                <a:ext uri="{FF2B5EF4-FFF2-40B4-BE49-F238E27FC236}">
                  <a16:creationId xmlns:a16="http://schemas.microsoft.com/office/drawing/2014/main" id="{DD547990-A689-F6E7-F4D9-85A9C73357B5}"/>
                </a:ext>
              </a:extLst>
            </p:cNvPr>
            <p:cNvGrpSpPr/>
            <p:nvPr/>
          </p:nvGrpSpPr>
          <p:grpSpPr>
            <a:xfrm>
              <a:off x="685800" y="1600200"/>
              <a:ext cx="5334000" cy="152400"/>
              <a:chOff x="560438" y="1964563"/>
              <a:chExt cx="5334000" cy="152400"/>
            </a:xfrm>
          </p:grpSpPr>
          <p:sp>
            <p:nvSpPr>
              <p:cNvPr id="15" name="object 4">
                <a:extLst>
                  <a:ext uri="{FF2B5EF4-FFF2-40B4-BE49-F238E27FC236}">
                    <a16:creationId xmlns:a16="http://schemas.microsoft.com/office/drawing/2014/main" id="{4FBD841C-AFD1-5F0C-D55C-9AC7F969E929}"/>
                  </a:ext>
                </a:extLst>
              </p:cNvPr>
              <p:cNvSpPr/>
              <p:nvPr/>
            </p:nvSpPr>
            <p:spPr>
              <a:xfrm flipV="1">
                <a:off x="560438" y="1964563"/>
                <a:ext cx="5334000" cy="45719"/>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16" name="object 5">
                <a:extLst>
                  <a:ext uri="{FF2B5EF4-FFF2-40B4-BE49-F238E27FC236}">
                    <a16:creationId xmlns:a16="http://schemas.microsoft.com/office/drawing/2014/main" id="{3AFF53D1-32B9-F6A9-B344-4C1CE221C1B8}"/>
                  </a:ext>
                </a:extLst>
              </p:cNvPr>
              <p:cNvSpPr/>
              <p:nvPr/>
            </p:nvSpPr>
            <p:spPr>
              <a:xfrm flipV="1">
                <a:off x="560438" y="2071244"/>
                <a:ext cx="5334000" cy="45719"/>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17" name="object 11">
            <a:extLst>
              <a:ext uri="{FF2B5EF4-FFF2-40B4-BE49-F238E27FC236}">
                <a16:creationId xmlns:a16="http://schemas.microsoft.com/office/drawing/2014/main" id="{A7B4C1AB-25BD-D5EF-1360-E8826784D028}"/>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sz="1800" spc="-25" dirty="0">
                <a:latin typeface="Trebuchet MS"/>
                <a:cs typeface="Trebuchet MS"/>
              </a:rPr>
              <a:t>0</a:t>
            </a:r>
            <a:r>
              <a:rPr lang="en-US" sz="1800" spc="-25" dirty="0">
                <a:latin typeface="Trebuchet MS"/>
                <a:cs typeface="Trebuchet MS"/>
              </a:rPr>
              <a:t>9</a:t>
            </a:r>
            <a:endParaRPr sz="1800" dirty="0">
              <a:latin typeface="Trebuchet MS"/>
              <a:cs typeface="Trebuchet MS"/>
            </a:endParaRPr>
          </a:p>
        </p:txBody>
      </p:sp>
      <p:pic>
        <p:nvPicPr>
          <p:cNvPr id="3" name="object 8">
            <a:extLst>
              <a:ext uri="{FF2B5EF4-FFF2-40B4-BE49-F238E27FC236}">
                <a16:creationId xmlns:a16="http://schemas.microsoft.com/office/drawing/2014/main" id="{E7CD7E7D-9157-2477-E87A-5E28C5B9312B}"/>
              </a:ext>
            </a:extLst>
          </p:cNvPr>
          <p:cNvPicPr/>
          <p:nvPr/>
        </p:nvPicPr>
        <p:blipFill>
          <a:blip r:embed="rId3" cstate="print"/>
          <a:stretch>
            <a:fillRect/>
          </a:stretch>
        </p:blipFill>
        <p:spPr>
          <a:xfrm>
            <a:off x="10316464" y="211950"/>
            <a:ext cx="1489926" cy="411073"/>
          </a:xfrm>
          <a:prstGeom prst="rect">
            <a:avLst/>
          </a:prstGeom>
        </p:spPr>
      </p:pic>
      <p:sp>
        <p:nvSpPr>
          <p:cNvPr id="4" name="object 9">
            <a:extLst>
              <a:ext uri="{FF2B5EF4-FFF2-40B4-BE49-F238E27FC236}">
                <a16:creationId xmlns:a16="http://schemas.microsoft.com/office/drawing/2014/main" id="{9B56EFA2-B1C9-B9EA-182A-76FEF14ECED6}"/>
              </a:ext>
            </a:extLst>
          </p:cNvPr>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5" name="object 10">
            <a:extLst>
              <a:ext uri="{FF2B5EF4-FFF2-40B4-BE49-F238E27FC236}">
                <a16:creationId xmlns:a16="http://schemas.microsoft.com/office/drawing/2014/main" id="{7DEEA29E-8899-70F2-1E4E-5143981810BE}"/>
              </a:ext>
            </a:extLst>
          </p:cNvPr>
          <p:cNvPicPr/>
          <p:nvPr/>
        </p:nvPicPr>
        <p:blipFill>
          <a:blip r:embed="rId4" cstate="print"/>
          <a:stretch>
            <a:fillRect/>
          </a:stretch>
        </p:blipFill>
        <p:spPr>
          <a:xfrm>
            <a:off x="371375" y="190588"/>
            <a:ext cx="953524" cy="545478"/>
          </a:xfrm>
          <a:prstGeom prst="rect">
            <a:avLst/>
          </a:prstGeom>
        </p:spPr>
      </p:pic>
      <p:pic>
        <p:nvPicPr>
          <p:cNvPr id="7" name="Picture 6">
            <a:extLst>
              <a:ext uri="{FF2B5EF4-FFF2-40B4-BE49-F238E27FC236}">
                <a16:creationId xmlns:a16="http://schemas.microsoft.com/office/drawing/2014/main" id="{92D68915-5F1B-3CB4-920E-D2DB92ED8EF2}"/>
              </a:ext>
            </a:extLst>
          </p:cNvPr>
          <p:cNvPicPr>
            <a:picLocks noChangeAspect="1"/>
          </p:cNvPicPr>
          <p:nvPr/>
        </p:nvPicPr>
        <p:blipFill>
          <a:blip r:embed="rId5"/>
          <a:srcRect l="835" t="3232" r="-835" b="-3232"/>
          <a:stretch>
            <a:fillRect/>
          </a:stretch>
        </p:blipFill>
        <p:spPr>
          <a:xfrm>
            <a:off x="3276600" y="1909873"/>
            <a:ext cx="5251106" cy="4478143"/>
          </a:xfrm>
          <a:prstGeom prst="rect">
            <a:avLst/>
          </a:prstGeom>
        </p:spPr>
      </p:pic>
    </p:spTree>
    <p:extLst>
      <p:ext uri="{BB962C8B-B14F-4D97-AF65-F5344CB8AC3E}">
        <p14:creationId xmlns:p14="http://schemas.microsoft.com/office/powerpoint/2010/main" val="898409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Google Shape;287;p41">
            <a:extLst>
              <a:ext uri="{FF2B5EF4-FFF2-40B4-BE49-F238E27FC236}">
                <a16:creationId xmlns:a16="http://schemas.microsoft.com/office/drawing/2014/main" id="{CF9A145B-6F45-2FAF-7569-B75B7E2CE6A6}"/>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3" name="Google Shape;287;p41">
            <a:extLst>
              <a:ext uri="{FF2B5EF4-FFF2-40B4-BE49-F238E27FC236}">
                <a16:creationId xmlns:a16="http://schemas.microsoft.com/office/drawing/2014/main" id="{983948E9-DE2F-20DF-7C68-6B546F258450}"/>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6" name="object 6"/>
          <p:cNvPicPr/>
          <p:nvPr/>
        </p:nvPicPr>
        <p:blipFill>
          <a:blip r:embed="rId3" cstate="print"/>
          <a:stretch>
            <a:fillRect/>
          </a:stretch>
        </p:blipFill>
        <p:spPr>
          <a:xfrm>
            <a:off x="10316464" y="211950"/>
            <a:ext cx="1489926" cy="411073"/>
          </a:xfrm>
          <a:prstGeom prst="rect">
            <a:avLst/>
          </a:prstGeom>
        </p:spPr>
      </p:pic>
      <p:sp>
        <p:nvSpPr>
          <p:cNvPr id="7" name="object 7"/>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8" name="object 8"/>
          <p:cNvPicPr/>
          <p:nvPr/>
        </p:nvPicPr>
        <p:blipFill>
          <a:blip r:embed="rId4" cstate="print"/>
          <a:stretch>
            <a:fillRect/>
          </a:stretch>
        </p:blipFill>
        <p:spPr>
          <a:xfrm>
            <a:off x="371375" y="190588"/>
            <a:ext cx="953524" cy="545478"/>
          </a:xfrm>
          <a:prstGeom prst="rect">
            <a:avLst/>
          </a:prstGeom>
        </p:spPr>
      </p:pic>
      <p:sp>
        <p:nvSpPr>
          <p:cNvPr id="14" name="object 14">
            <a:extLst>
              <a:ext uri="{FF2B5EF4-FFF2-40B4-BE49-F238E27FC236}">
                <a16:creationId xmlns:a16="http://schemas.microsoft.com/office/drawing/2014/main" id="{E8135205-BFA9-8AD9-1CBA-841284382606}"/>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18" name="Group 17">
            <a:extLst>
              <a:ext uri="{FF2B5EF4-FFF2-40B4-BE49-F238E27FC236}">
                <a16:creationId xmlns:a16="http://schemas.microsoft.com/office/drawing/2014/main" id="{7113EA3F-ECE8-1426-EDED-17945614F0F0}"/>
              </a:ext>
            </a:extLst>
          </p:cNvPr>
          <p:cNvGrpSpPr/>
          <p:nvPr/>
        </p:nvGrpSpPr>
        <p:grpSpPr>
          <a:xfrm>
            <a:off x="593242" y="890143"/>
            <a:ext cx="11005515" cy="1091057"/>
            <a:chOff x="593242" y="890143"/>
            <a:chExt cx="11005515" cy="1091057"/>
          </a:xfrm>
        </p:grpSpPr>
        <p:sp>
          <p:nvSpPr>
            <p:cNvPr id="19" name="object 9">
              <a:extLst>
                <a:ext uri="{FF2B5EF4-FFF2-40B4-BE49-F238E27FC236}">
                  <a16:creationId xmlns:a16="http://schemas.microsoft.com/office/drawing/2014/main" id="{2A569A34-0183-762C-2D2E-88A2B273B637}"/>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TECHNOLOGY STACK</a:t>
              </a:r>
            </a:p>
          </p:txBody>
        </p:sp>
        <p:grpSp>
          <p:nvGrpSpPr>
            <p:cNvPr id="20" name="Group 19">
              <a:extLst>
                <a:ext uri="{FF2B5EF4-FFF2-40B4-BE49-F238E27FC236}">
                  <a16:creationId xmlns:a16="http://schemas.microsoft.com/office/drawing/2014/main" id="{5806959A-B5A4-E9DB-1DC9-3073FCBED9A9}"/>
                </a:ext>
              </a:extLst>
            </p:cNvPr>
            <p:cNvGrpSpPr/>
            <p:nvPr/>
          </p:nvGrpSpPr>
          <p:grpSpPr>
            <a:xfrm>
              <a:off x="685800" y="1860169"/>
              <a:ext cx="4857750" cy="121031"/>
              <a:chOff x="560438" y="2224532"/>
              <a:chExt cx="4857750" cy="121031"/>
            </a:xfrm>
          </p:grpSpPr>
          <p:sp>
            <p:nvSpPr>
              <p:cNvPr id="21" name="object 4">
                <a:extLst>
                  <a:ext uri="{FF2B5EF4-FFF2-40B4-BE49-F238E27FC236}">
                    <a16:creationId xmlns:a16="http://schemas.microsoft.com/office/drawing/2014/main" id="{0F405AA4-2F2E-1646-1537-B86933E71FE4}"/>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2" name="object 5">
                <a:extLst>
                  <a:ext uri="{FF2B5EF4-FFF2-40B4-BE49-F238E27FC236}">
                    <a16:creationId xmlns:a16="http://schemas.microsoft.com/office/drawing/2014/main" id="{641B980D-6D72-8C8F-307C-BAA819C26360}"/>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3" name="object 10">
            <a:extLst>
              <a:ext uri="{FF2B5EF4-FFF2-40B4-BE49-F238E27FC236}">
                <a16:creationId xmlns:a16="http://schemas.microsoft.com/office/drawing/2014/main" id="{7FDE0647-8C0E-D71A-EC41-2EC2B20468C5}"/>
              </a:ext>
            </a:extLst>
          </p:cNvPr>
          <p:cNvSpPr txBox="1"/>
          <p:nvPr/>
        </p:nvSpPr>
        <p:spPr>
          <a:xfrm>
            <a:off x="620675" y="2798896"/>
            <a:ext cx="5475326" cy="2382704"/>
          </a:xfrm>
          <a:prstGeom prst="rect">
            <a:avLst/>
          </a:prstGeom>
        </p:spPr>
        <p:txBody>
          <a:bodyPr vert="horz" wrap="square" lIns="0" tIns="134620" rIns="0" bIns="0" rtlCol="0">
            <a:spAutoFit/>
          </a:bodyPr>
          <a:lstStyle/>
          <a:p>
            <a:pPr marL="518157" lvl="1" indent="-259078" algn="l">
              <a:buFont typeface="Arial"/>
              <a:buChar char="•"/>
            </a:pPr>
            <a:r>
              <a:rPr lang="en-US" sz="1800" b="1" dirty="0">
                <a:latin typeface="Times New Roman"/>
                <a:cs typeface="Times New Roman"/>
              </a:rPr>
              <a:t>Frontend:</a:t>
            </a:r>
            <a:r>
              <a:rPr lang="en-US" sz="1800" dirty="0">
                <a:latin typeface="Times New Roman"/>
                <a:cs typeface="Times New Roman"/>
              </a:rPr>
              <a:t> React + Bootstrap</a:t>
            </a:r>
          </a:p>
          <a:p>
            <a:pPr marL="259079" lvl="1" algn="l"/>
            <a:endParaRPr lang="en-US" sz="1800" dirty="0">
              <a:latin typeface="Times New Roman"/>
              <a:cs typeface="Times New Roman"/>
            </a:endParaRPr>
          </a:p>
          <a:p>
            <a:pPr marL="518157" lvl="1" indent="-259078" algn="l">
              <a:buFont typeface="Arial"/>
              <a:buChar char="•"/>
            </a:pPr>
            <a:r>
              <a:rPr lang="en-US" b="1" dirty="0">
                <a:latin typeface="Times New Roman"/>
                <a:cs typeface="Times New Roman"/>
              </a:rPr>
              <a:t>Backend:</a:t>
            </a:r>
            <a:r>
              <a:rPr lang="en-US" dirty="0">
                <a:latin typeface="Times New Roman"/>
                <a:cs typeface="Times New Roman"/>
              </a:rPr>
              <a:t> Django Rest Framework</a:t>
            </a:r>
          </a:p>
          <a:p>
            <a:pPr marL="259079" lvl="1" algn="l"/>
            <a:endParaRPr lang="en-US" dirty="0">
              <a:latin typeface="Times New Roman"/>
              <a:cs typeface="Times New Roman"/>
            </a:endParaRPr>
          </a:p>
          <a:p>
            <a:pPr marL="518157" lvl="1" indent="-259078" algn="l">
              <a:buFont typeface="Arial"/>
              <a:buChar char="•"/>
            </a:pPr>
            <a:r>
              <a:rPr lang="en-US" sz="1800" b="1" dirty="0">
                <a:latin typeface="Times New Roman"/>
                <a:cs typeface="Times New Roman"/>
              </a:rPr>
              <a:t>Database:</a:t>
            </a:r>
            <a:r>
              <a:rPr lang="en-US" sz="1800" dirty="0">
                <a:latin typeface="Times New Roman"/>
                <a:cs typeface="Times New Roman"/>
              </a:rPr>
              <a:t> </a:t>
            </a:r>
          </a:p>
          <a:p>
            <a:pPr marL="259079" lvl="1" algn="l"/>
            <a:endParaRPr lang="en-US" sz="1000" dirty="0">
              <a:latin typeface="Times New Roman"/>
              <a:cs typeface="Times New Roman"/>
            </a:endParaRPr>
          </a:p>
          <a:p>
            <a:pPr marL="259079" lvl="6" algn="l"/>
            <a:r>
              <a:rPr lang="en-US" dirty="0">
                <a:latin typeface="Times New Roman"/>
                <a:cs typeface="Times New Roman"/>
              </a:rPr>
              <a:t>        1. Development: SQLite</a:t>
            </a:r>
          </a:p>
          <a:p>
            <a:pPr marL="259079" lvl="6" algn="l"/>
            <a:endParaRPr lang="en-US" sz="1000" dirty="0">
              <a:latin typeface="Times New Roman"/>
              <a:cs typeface="Times New Roman"/>
            </a:endParaRPr>
          </a:p>
          <a:p>
            <a:pPr marL="259079" lvl="4" algn="l"/>
            <a:r>
              <a:rPr lang="en-US" dirty="0">
                <a:latin typeface="Times New Roman"/>
                <a:cs typeface="Times New Roman"/>
              </a:rPr>
              <a:t>        2. Deployment: PostgreSQL</a:t>
            </a:r>
          </a:p>
        </p:txBody>
      </p:sp>
      <p:sp>
        <p:nvSpPr>
          <p:cNvPr id="23" name="object 10">
            <a:extLst>
              <a:ext uri="{FF2B5EF4-FFF2-40B4-BE49-F238E27FC236}">
                <a16:creationId xmlns:a16="http://schemas.microsoft.com/office/drawing/2014/main" id="{6852E219-7756-2DAD-C3FA-022180D608C0}"/>
              </a:ext>
            </a:extLst>
          </p:cNvPr>
          <p:cNvSpPr txBox="1"/>
          <p:nvPr/>
        </p:nvSpPr>
        <p:spPr>
          <a:xfrm>
            <a:off x="620674" y="2286000"/>
            <a:ext cx="10502265" cy="501676"/>
          </a:xfrm>
          <a:prstGeom prst="rect">
            <a:avLst/>
          </a:prstGeom>
        </p:spPr>
        <p:txBody>
          <a:bodyPr vert="horz" wrap="square" lIns="0" tIns="134620" rIns="0" bIns="0" rtlCol="0">
            <a:spAutoFit/>
          </a:bodyPr>
          <a:lstStyle/>
          <a:p>
            <a:pPr>
              <a:lnSpc>
                <a:spcPct val="150000"/>
              </a:lnSpc>
            </a:pPr>
            <a:r>
              <a:rPr lang="en-IN" dirty="0">
                <a:latin typeface="Times New Roman"/>
                <a:cs typeface="Times New Roman"/>
              </a:rPr>
              <a:t>.</a:t>
            </a:r>
          </a:p>
        </p:txBody>
      </p:sp>
      <p:sp>
        <p:nvSpPr>
          <p:cNvPr id="24" name="object 11">
            <a:extLst>
              <a:ext uri="{FF2B5EF4-FFF2-40B4-BE49-F238E27FC236}">
                <a16:creationId xmlns:a16="http://schemas.microsoft.com/office/drawing/2014/main" id="{113220F7-A472-ADBE-2280-C3379BB0FCE4}"/>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lang="en-US" sz="1800" spc="-25" dirty="0">
                <a:latin typeface="Trebuchet MS"/>
                <a:cs typeface="Trebuchet MS"/>
              </a:rPr>
              <a:t>10</a:t>
            </a:r>
            <a:endParaRPr sz="1800" dirty="0">
              <a:latin typeface="Trebuchet MS"/>
              <a:cs typeface="Trebuchet MS"/>
            </a:endParaRPr>
          </a:p>
        </p:txBody>
      </p:sp>
      <p:sp>
        <p:nvSpPr>
          <p:cNvPr id="5" name="object 10">
            <a:extLst>
              <a:ext uri="{FF2B5EF4-FFF2-40B4-BE49-F238E27FC236}">
                <a16:creationId xmlns:a16="http://schemas.microsoft.com/office/drawing/2014/main" id="{BA86A5C7-4193-1C19-3C8C-2D00D22FEB34}"/>
              </a:ext>
            </a:extLst>
          </p:cNvPr>
          <p:cNvSpPr txBox="1"/>
          <p:nvPr/>
        </p:nvSpPr>
        <p:spPr>
          <a:xfrm>
            <a:off x="5802274" y="2743200"/>
            <a:ext cx="5475326" cy="2538131"/>
          </a:xfrm>
          <a:prstGeom prst="rect">
            <a:avLst/>
          </a:prstGeom>
        </p:spPr>
        <p:txBody>
          <a:bodyPr vert="horz" wrap="square" lIns="0" tIns="134620" rIns="0" bIns="0" rtlCol="0">
            <a:spAutoFit/>
          </a:bodyPr>
          <a:lstStyle/>
          <a:p>
            <a:pPr marL="518157" lvl="4" indent="-259078" algn="l">
              <a:lnSpc>
                <a:spcPts val="3359"/>
              </a:lnSpc>
              <a:buFont typeface="Arial"/>
              <a:buChar char="•"/>
            </a:pPr>
            <a:r>
              <a:rPr lang="en-US" b="1" dirty="0">
                <a:latin typeface="Times New Roman"/>
                <a:cs typeface="Times New Roman"/>
              </a:rPr>
              <a:t>Authentication:</a:t>
            </a:r>
            <a:r>
              <a:rPr lang="en-US" dirty="0">
                <a:latin typeface="Times New Roman"/>
                <a:cs typeface="Times New Roman"/>
              </a:rPr>
              <a:t> JWT (JSON Web Token)</a:t>
            </a:r>
          </a:p>
          <a:p>
            <a:pPr marL="259079" lvl="4" algn="l"/>
            <a:endParaRPr lang="en-US" dirty="0">
              <a:latin typeface="Times New Roman"/>
              <a:cs typeface="Times New Roman"/>
            </a:endParaRPr>
          </a:p>
          <a:p>
            <a:pPr marL="518157" lvl="4" indent="-259078" algn="l">
              <a:lnSpc>
                <a:spcPts val="3359"/>
              </a:lnSpc>
              <a:buFont typeface="Arial"/>
              <a:buChar char="•"/>
            </a:pPr>
            <a:r>
              <a:rPr lang="en-US" b="1" dirty="0">
                <a:latin typeface="Times New Roman"/>
                <a:cs typeface="Times New Roman"/>
              </a:rPr>
              <a:t>Other Integrations: </a:t>
            </a:r>
          </a:p>
          <a:p>
            <a:pPr marL="259079" lvl="4" algn="l">
              <a:lnSpc>
                <a:spcPts val="3359"/>
              </a:lnSpc>
            </a:pPr>
            <a:r>
              <a:rPr lang="en-US" dirty="0">
                <a:latin typeface="Times New Roman"/>
                <a:cs typeface="Times New Roman"/>
              </a:rPr>
              <a:t>        1. Google’s SMTP API for email notifications</a:t>
            </a:r>
          </a:p>
          <a:p>
            <a:pPr marL="259079" lvl="4" algn="l">
              <a:lnSpc>
                <a:spcPts val="3359"/>
              </a:lnSpc>
            </a:pPr>
            <a:r>
              <a:rPr lang="en-US" dirty="0">
                <a:latin typeface="Times New Roman"/>
                <a:cs typeface="Times New Roman"/>
              </a:rPr>
              <a:t>        2. Google Charts for dashboards </a:t>
            </a:r>
          </a:p>
          <a:p>
            <a:pPr marL="518157" lvl="4" indent="-259078" algn="l">
              <a:lnSpc>
                <a:spcPts val="3359"/>
              </a:lnSpc>
              <a:buFont typeface="Arial"/>
              <a:buChar char="•"/>
            </a:pPr>
            <a:endParaRPr lang="en-US" dirty="0">
              <a:latin typeface="Times New Roman"/>
              <a:cs typeface="Times New Roman"/>
            </a:endParaRPr>
          </a:p>
        </p:txBody>
      </p:sp>
      <p:cxnSp>
        <p:nvCxnSpPr>
          <p:cNvPr id="9" name="Straight Connector 8">
            <a:extLst>
              <a:ext uri="{FF2B5EF4-FFF2-40B4-BE49-F238E27FC236}">
                <a16:creationId xmlns:a16="http://schemas.microsoft.com/office/drawing/2014/main" id="{BA95432C-88CD-1965-E4E5-97D66490BB8B}"/>
              </a:ext>
            </a:extLst>
          </p:cNvPr>
          <p:cNvCxnSpPr>
            <a:cxnSpLocks/>
          </p:cNvCxnSpPr>
          <p:nvPr/>
        </p:nvCxnSpPr>
        <p:spPr>
          <a:xfrm>
            <a:off x="5410200" y="2819400"/>
            <a:ext cx="0" cy="2438400"/>
          </a:xfrm>
          <a:prstGeom prst="line">
            <a:avLst/>
          </a:prstGeom>
          <a:ln w="38100">
            <a:prstDash val="dashDot"/>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Google Shape;287;p41">
            <a:extLst>
              <a:ext uri="{FF2B5EF4-FFF2-40B4-BE49-F238E27FC236}">
                <a16:creationId xmlns:a16="http://schemas.microsoft.com/office/drawing/2014/main" id="{BC47754E-D22F-BB00-9CD0-2819A5445382}"/>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5" name="Google Shape;287;p41">
            <a:extLst>
              <a:ext uri="{FF2B5EF4-FFF2-40B4-BE49-F238E27FC236}">
                <a16:creationId xmlns:a16="http://schemas.microsoft.com/office/drawing/2014/main" id="{8B54845A-EEB9-82B7-8745-9D97FB3CBD7E}"/>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8" name="object 8"/>
          <p:cNvPicPr/>
          <p:nvPr/>
        </p:nvPicPr>
        <p:blipFill>
          <a:blip r:embed="rId3" cstate="print"/>
          <a:stretch>
            <a:fillRect/>
          </a:stretch>
        </p:blipFill>
        <p:spPr>
          <a:xfrm>
            <a:off x="10316464" y="211950"/>
            <a:ext cx="1489926" cy="411073"/>
          </a:xfrm>
          <a:prstGeom prst="rect">
            <a:avLst/>
          </a:prstGeom>
        </p:spPr>
      </p:pic>
      <p:sp>
        <p:nvSpPr>
          <p:cNvPr id="9" name="object 9"/>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10" name="object 10"/>
          <p:cNvPicPr/>
          <p:nvPr/>
        </p:nvPicPr>
        <p:blipFill>
          <a:blip r:embed="rId4" cstate="print"/>
          <a:stretch>
            <a:fillRect/>
          </a:stretch>
        </p:blipFill>
        <p:spPr>
          <a:xfrm>
            <a:off x="371375" y="190588"/>
            <a:ext cx="953524" cy="545478"/>
          </a:xfrm>
          <a:prstGeom prst="rect">
            <a:avLst/>
          </a:prstGeom>
        </p:spPr>
      </p:pic>
      <p:sp>
        <p:nvSpPr>
          <p:cNvPr id="16" name="object 14">
            <a:extLst>
              <a:ext uri="{FF2B5EF4-FFF2-40B4-BE49-F238E27FC236}">
                <a16:creationId xmlns:a16="http://schemas.microsoft.com/office/drawing/2014/main" id="{59A28C94-47CC-B727-1D43-6D8C6D0A1603}"/>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sp>
        <p:nvSpPr>
          <p:cNvPr id="19" name="object 11">
            <a:extLst>
              <a:ext uri="{FF2B5EF4-FFF2-40B4-BE49-F238E27FC236}">
                <a16:creationId xmlns:a16="http://schemas.microsoft.com/office/drawing/2014/main" id="{83559778-F417-ECAC-3621-69D7062AF955}"/>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lang="en-US" spc="-25" dirty="0">
                <a:latin typeface="Trebuchet MS"/>
                <a:cs typeface="Trebuchet MS"/>
              </a:rPr>
              <a:t>11</a:t>
            </a:r>
            <a:endParaRPr sz="1800" dirty="0">
              <a:latin typeface="Trebuchet MS"/>
              <a:cs typeface="Trebuchet MS"/>
            </a:endParaRPr>
          </a:p>
        </p:txBody>
      </p:sp>
      <p:grpSp>
        <p:nvGrpSpPr>
          <p:cNvPr id="20" name="Group 19">
            <a:extLst>
              <a:ext uri="{FF2B5EF4-FFF2-40B4-BE49-F238E27FC236}">
                <a16:creationId xmlns:a16="http://schemas.microsoft.com/office/drawing/2014/main" id="{29EBA30A-BB62-78FE-59B2-6B07D61120D4}"/>
              </a:ext>
            </a:extLst>
          </p:cNvPr>
          <p:cNvGrpSpPr/>
          <p:nvPr/>
        </p:nvGrpSpPr>
        <p:grpSpPr>
          <a:xfrm>
            <a:off x="593242" y="609600"/>
            <a:ext cx="11005515" cy="1371600"/>
            <a:chOff x="593242" y="609600"/>
            <a:chExt cx="11005515" cy="1371600"/>
          </a:xfrm>
        </p:grpSpPr>
        <p:sp>
          <p:nvSpPr>
            <p:cNvPr id="21" name="object 9">
              <a:extLst>
                <a:ext uri="{FF2B5EF4-FFF2-40B4-BE49-F238E27FC236}">
                  <a16:creationId xmlns:a16="http://schemas.microsoft.com/office/drawing/2014/main" id="{214E2E01-FE9E-F46B-1B5E-74EBED95E85F}"/>
                </a:ext>
              </a:extLst>
            </p:cNvPr>
            <p:cNvSpPr txBox="1">
              <a:spLocks/>
            </p:cNvSpPr>
            <p:nvPr/>
          </p:nvSpPr>
          <p:spPr>
            <a:xfrm>
              <a:off x="593242" y="609600"/>
              <a:ext cx="11005515" cy="1206227"/>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DATA FLOW DIAGRAM:</a:t>
              </a:r>
            </a:p>
            <a:p>
              <a:pPr marL="172720">
                <a:spcBef>
                  <a:spcPts val="105"/>
                </a:spcBef>
              </a:pPr>
              <a:r>
                <a:rPr lang="en-US" sz="2400" b="0" dirty="0"/>
                <a:t>DFD</a:t>
              </a:r>
              <a:r>
                <a:rPr lang="en-US" sz="2400" b="0" spc="-30" dirty="0"/>
                <a:t> </a:t>
              </a:r>
              <a:r>
                <a:rPr lang="en-US" sz="2400" b="0" dirty="0"/>
                <a:t>Level</a:t>
              </a:r>
              <a:r>
                <a:rPr lang="en-US" sz="2400" b="0" spc="-40" dirty="0"/>
                <a:t> </a:t>
              </a:r>
              <a:r>
                <a:rPr lang="en-US" sz="2400" b="0" spc="-50" dirty="0"/>
                <a:t>0</a:t>
              </a:r>
              <a:endParaRPr lang="en-US" sz="2400" b="0" spc="-10" dirty="0"/>
            </a:p>
          </p:txBody>
        </p:sp>
        <p:grpSp>
          <p:nvGrpSpPr>
            <p:cNvPr id="22" name="Group 21">
              <a:extLst>
                <a:ext uri="{FF2B5EF4-FFF2-40B4-BE49-F238E27FC236}">
                  <a16:creationId xmlns:a16="http://schemas.microsoft.com/office/drawing/2014/main" id="{24D2F31A-E3DC-231B-AEB8-FBF62D794924}"/>
                </a:ext>
              </a:extLst>
            </p:cNvPr>
            <p:cNvGrpSpPr/>
            <p:nvPr/>
          </p:nvGrpSpPr>
          <p:grpSpPr>
            <a:xfrm>
              <a:off x="685800" y="1860169"/>
              <a:ext cx="4857750" cy="121031"/>
              <a:chOff x="560438" y="2224532"/>
              <a:chExt cx="4857750" cy="121031"/>
            </a:xfrm>
          </p:grpSpPr>
          <p:sp>
            <p:nvSpPr>
              <p:cNvPr id="23" name="object 4">
                <a:extLst>
                  <a:ext uri="{FF2B5EF4-FFF2-40B4-BE49-F238E27FC236}">
                    <a16:creationId xmlns:a16="http://schemas.microsoft.com/office/drawing/2014/main" id="{ED51A552-3DD9-A5EC-2DEF-730C9B4CD16E}"/>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4" name="object 5">
                <a:extLst>
                  <a:ext uri="{FF2B5EF4-FFF2-40B4-BE49-F238E27FC236}">
                    <a16:creationId xmlns:a16="http://schemas.microsoft.com/office/drawing/2014/main" id="{2E3892AC-A904-7EA0-2788-9C828F576E64}"/>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pic>
        <p:nvPicPr>
          <p:cNvPr id="3" name="Picture 2">
            <a:extLst>
              <a:ext uri="{FF2B5EF4-FFF2-40B4-BE49-F238E27FC236}">
                <a16:creationId xmlns:a16="http://schemas.microsoft.com/office/drawing/2014/main" id="{D81DB48C-48A0-EE24-1C39-2FC7127C2DAE}"/>
              </a:ext>
            </a:extLst>
          </p:cNvPr>
          <p:cNvPicPr>
            <a:picLocks noChangeAspect="1"/>
          </p:cNvPicPr>
          <p:nvPr/>
        </p:nvPicPr>
        <p:blipFill>
          <a:blip r:embed="rId5"/>
          <a:stretch>
            <a:fillRect/>
          </a:stretch>
        </p:blipFill>
        <p:spPr>
          <a:xfrm>
            <a:off x="1905000" y="2391662"/>
            <a:ext cx="6629401" cy="33995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Google Shape;287;p41">
            <a:extLst>
              <a:ext uri="{FF2B5EF4-FFF2-40B4-BE49-F238E27FC236}">
                <a16:creationId xmlns:a16="http://schemas.microsoft.com/office/drawing/2014/main" id="{F1576DC5-A90E-8770-EA14-3951FF28B096}"/>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5" name="Google Shape;287;p41">
            <a:extLst>
              <a:ext uri="{FF2B5EF4-FFF2-40B4-BE49-F238E27FC236}">
                <a16:creationId xmlns:a16="http://schemas.microsoft.com/office/drawing/2014/main" id="{7E7C4166-4B9A-7EA5-3EAB-A3A77D8F4A3D}"/>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7" name="object 7"/>
          <p:cNvPicPr/>
          <p:nvPr/>
        </p:nvPicPr>
        <p:blipFill>
          <a:blip r:embed="rId3" cstate="print"/>
          <a:stretch>
            <a:fillRect/>
          </a:stretch>
        </p:blipFill>
        <p:spPr>
          <a:xfrm>
            <a:off x="10316464" y="211950"/>
            <a:ext cx="1524000" cy="436765"/>
          </a:xfrm>
          <a:prstGeom prst="rect">
            <a:avLst/>
          </a:prstGeom>
        </p:spPr>
      </p:pic>
      <p:sp>
        <p:nvSpPr>
          <p:cNvPr id="8" name="object 8"/>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9" name="object 9"/>
          <p:cNvPicPr/>
          <p:nvPr/>
        </p:nvPicPr>
        <p:blipFill>
          <a:blip r:embed="rId4" cstate="print"/>
          <a:stretch>
            <a:fillRect/>
          </a:stretch>
        </p:blipFill>
        <p:spPr>
          <a:xfrm>
            <a:off x="371375" y="190588"/>
            <a:ext cx="953524" cy="545478"/>
          </a:xfrm>
          <a:prstGeom prst="rect">
            <a:avLst/>
          </a:prstGeom>
        </p:spPr>
      </p:pic>
      <p:sp>
        <p:nvSpPr>
          <p:cNvPr id="16" name="object 14">
            <a:extLst>
              <a:ext uri="{FF2B5EF4-FFF2-40B4-BE49-F238E27FC236}">
                <a16:creationId xmlns:a16="http://schemas.microsoft.com/office/drawing/2014/main" id="{954B05DB-3E1C-D352-E3DE-D7D1C85F84C0}"/>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19" name="Group 18">
            <a:extLst>
              <a:ext uri="{FF2B5EF4-FFF2-40B4-BE49-F238E27FC236}">
                <a16:creationId xmlns:a16="http://schemas.microsoft.com/office/drawing/2014/main" id="{3CA776A7-AFF2-6DF5-80AA-4C18BC392ECA}"/>
              </a:ext>
            </a:extLst>
          </p:cNvPr>
          <p:cNvGrpSpPr/>
          <p:nvPr/>
        </p:nvGrpSpPr>
        <p:grpSpPr>
          <a:xfrm>
            <a:off x="593242" y="609600"/>
            <a:ext cx="11005515" cy="1371600"/>
            <a:chOff x="593242" y="609600"/>
            <a:chExt cx="11005515" cy="1371600"/>
          </a:xfrm>
        </p:grpSpPr>
        <p:sp>
          <p:nvSpPr>
            <p:cNvPr id="20" name="object 9">
              <a:extLst>
                <a:ext uri="{FF2B5EF4-FFF2-40B4-BE49-F238E27FC236}">
                  <a16:creationId xmlns:a16="http://schemas.microsoft.com/office/drawing/2014/main" id="{94C148FE-2BB3-10BE-6E90-AFE361C43558}"/>
                </a:ext>
              </a:extLst>
            </p:cNvPr>
            <p:cNvSpPr txBox="1">
              <a:spLocks/>
            </p:cNvSpPr>
            <p:nvPr/>
          </p:nvSpPr>
          <p:spPr>
            <a:xfrm>
              <a:off x="593242" y="609600"/>
              <a:ext cx="11005515" cy="1206227"/>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DATA FLOW DIAGRAM:</a:t>
              </a:r>
            </a:p>
            <a:p>
              <a:pPr marL="172720">
                <a:spcBef>
                  <a:spcPts val="105"/>
                </a:spcBef>
              </a:pPr>
              <a:r>
                <a:rPr lang="en-US" sz="2400" b="0" dirty="0"/>
                <a:t>DFD</a:t>
              </a:r>
              <a:r>
                <a:rPr lang="en-US" sz="2400" b="0" spc="-30" dirty="0"/>
                <a:t> </a:t>
              </a:r>
              <a:r>
                <a:rPr lang="en-US" sz="2400" b="0" dirty="0"/>
                <a:t>Level</a:t>
              </a:r>
              <a:r>
                <a:rPr lang="en-US" sz="2400" b="0" spc="-40" dirty="0"/>
                <a:t> </a:t>
              </a:r>
              <a:r>
                <a:rPr lang="en-US" sz="2400" b="0" spc="-50" dirty="0"/>
                <a:t>1</a:t>
              </a:r>
              <a:endParaRPr lang="en-US" sz="2400" b="0" spc="-10" dirty="0"/>
            </a:p>
          </p:txBody>
        </p:sp>
        <p:grpSp>
          <p:nvGrpSpPr>
            <p:cNvPr id="21" name="Group 20">
              <a:extLst>
                <a:ext uri="{FF2B5EF4-FFF2-40B4-BE49-F238E27FC236}">
                  <a16:creationId xmlns:a16="http://schemas.microsoft.com/office/drawing/2014/main" id="{D87A8150-522F-1331-2F8C-7AD61D78B6EE}"/>
                </a:ext>
              </a:extLst>
            </p:cNvPr>
            <p:cNvGrpSpPr/>
            <p:nvPr/>
          </p:nvGrpSpPr>
          <p:grpSpPr>
            <a:xfrm>
              <a:off x="685800" y="1860169"/>
              <a:ext cx="4857750" cy="121031"/>
              <a:chOff x="560438" y="2224532"/>
              <a:chExt cx="4857750" cy="121031"/>
            </a:xfrm>
          </p:grpSpPr>
          <p:sp>
            <p:nvSpPr>
              <p:cNvPr id="22" name="object 4">
                <a:extLst>
                  <a:ext uri="{FF2B5EF4-FFF2-40B4-BE49-F238E27FC236}">
                    <a16:creationId xmlns:a16="http://schemas.microsoft.com/office/drawing/2014/main" id="{AA69124E-9716-F895-15C9-09E140921F1E}"/>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3" name="object 5">
                <a:extLst>
                  <a:ext uri="{FF2B5EF4-FFF2-40B4-BE49-F238E27FC236}">
                    <a16:creationId xmlns:a16="http://schemas.microsoft.com/office/drawing/2014/main" id="{DED88EB0-3A93-451D-C171-D914F8D50CCC}"/>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4" name="object 11">
            <a:extLst>
              <a:ext uri="{FF2B5EF4-FFF2-40B4-BE49-F238E27FC236}">
                <a16:creationId xmlns:a16="http://schemas.microsoft.com/office/drawing/2014/main" id="{CF29EB1B-340A-582F-AD18-8297214E0604}"/>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lang="en-US" sz="1800" spc="-25" dirty="0">
                <a:latin typeface="Trebuchet MS"/>
                <a:cs typeface="Trebuchet MS"/>
              </a:rPr>
              <a:t>12</a:t>
            </a:r>
            <a:endParaRPr sz="1800" dirty="0">
              <a:latin typeface="Trebuchet MS"/>
              <a:cs typeface="Trebuchet MS"/>
            </a:endParaRPr>
          </a:p>
        </p:txBody>
      </p:sp>
      <p:pic>
        <p:nvPicPr>
          <p:cNvPr id="3" name="Picture 2">
            <a:extLst>
              <a:ext uri="{FF2B5EF4-FFF2-40B4-BE49-F238E27FC236}">
                <a16:creationId xmlns:a16="http://schemas.microsoft.com/office/drawing/2014/main" id="{10FDCB2B-246A-0129-494A-BC9EF63A5E57}"/>
              </a:ext>
            </a:extLst>
          </p:cNvPr>
          <p:cNvPicPr>
            <a:picLocks noChangeAspect="1"/>
          </p:cNvPicPr>
          <p:nvPr/>
        </p:nvPicPr>
        <p:blipFill>
          <a:blip r:embed="rId5"/>
          <a:stretch>
            <a:fillRect/>
          </a:stretch>
        </p:blipFill>
        <p:spPr>
          <a:xfrm>
            <a:off x="1324900" y="2088550"/>
            <a:ext cx="8946040" cy="42075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Google Shape;287;p41">
            <a:extLst>
              <a:ext uri="{FF2B5EF4-FFF2-40B4-BE49-F238E27FC236}">
                <a16:creationId xmlns:a16="http://schemas.microsoft.com/office/drawing/2014/main" id="{6B3BC196-712C-4FC7-FA52-BA766F0863E1}"/>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6" name="Google Shape;287;p41">
            <a:extLst>
              <a:ext uri="{FF2B5EF4-FFF2-40B4-BE49-F238E27FC236}">
                <a16:creationId xmlns:a16="http://schemas.microsoft.com/office/drawing/2014/main" id="{843CB9C6-3D95-8D5F-4EC4-863679F938C0}"/>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sp>
        <p:nvSpPr>
          <p:cNvPr id="6" name="object 6"/>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7" name="object 7"/>
          <p:cNvPicPr/>
          <p:nvPr/>
        </p:nvPicPr>
        <p:blipFill>
          <a:blip r:embed="rId3" cstate="print"/>
          <a:stretch>
            <a:fillRect/>
          </a:stretch>
        </p:blipFill>
        <p:spPr>
          <a:xfrm>
            <a:off x="371375" y="190588"/>
            <a:ext cx="953524" cy="545478"/>
          </a:xfrm>
          <a:prstGeom prst="rect">
            <a:avLst/>
          </a:prstGeom>
        </p:spPr>
      </p:pic>
      <p:sp>
        <p:nvSpPr>
          <p:cNvPr id="17" name="object 14">
            <a:extLst>
              <a:ext uri="{FF2B5EF4-FFF2-40B4-BE49-F238E27FC236}">
                <a16:creationId xmlns:a16="http://schemas.microsoft.com/office/drawing/2014/main" id="{86EC8771-8FEF-E9EE-F291-4EFEB19162B2}"/>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20" name="Group 19">
            <a:extLst>
              <a:ext uri="{FF2B5EF4-FFF2-40B4-BE49-F238E27FC236}">
                <a16:creationId xmlns:a16="http://schemas.microsoft.com/office/drawing/2014/main" id="{8E8A6801-3D55-3484-F115-781A72E7D618}"/>
              </a:ext>
            </a:extLst>
          </p:cNvPr>
          <p:cNvGrpSpPr/>
          <p:nvPr/>
        </p:nvGrpSpPr>
        <p:grpSpPr>
          <a:xfrm>
            <a:off x="593242" y="890143"/>
            <a:ext cx="11005515" cy="1091057"/>
            <a:chOff x="593242" y="890143"/>
            <a:chExt cx="11005515" cy="1091057"/>
          </a:xfrm>
        </p:grpSpPr>
        <p:sp>
          <p:nvSpPr>
            <p:cNvPr id="21" name="object 9">
              <a:extLst>
                <a:ext uri="{FF2B5EF4-FFF2-40B4-BE49-F238E27FC236}">
                  <a16:creationId xmlns:a16="http://schemas.microsoft.com/office/drawing/2014/main" id="{420004F8-B993-5DD5-1F33-75FCA02D3A13}"/>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ADVANTAGES:</a:t>
              </a:r>
            </a:p>
          </p:txBody>
        </p:sp>
        <p:grpSp>
          <p:nvGrpSpPr>
            <p:cNvPr id="22" name="Group 21">
              <a:extLst>
                <a:ext uri="{FF2B5EF4-FFF2-40B4-BE49-F238E27FC236}">
                  <a16:creationId xmlns:a16="http://schemas.microsoft.com/office/drawing/2014/main" id="{E3856862-F31B-115C-BED5-0892E7718ACA}"/>
                </a:ext>
              </a:extLst>
            </p:cNvPr>
            <p:cNvGrpSpPr/>
            <p:nvPr/>
          </p:nvGrpSpPr>
          <p:grpSpPr>
            <a:xfrm>
              <a:off x="685800" y="1860169"/>
              <a:ext cx="4857750" cy="121031"/>
              <a:chOff x="560438" y="2224532"/>
              <a:chExt cx="4857750" cy="121031"/>
            </a:xfrm>
          </p:grpSpPr>
          <p:sp>
            <p:nvSpPr>
              <p:cNvPr id="23" name="object 4">
                <a:extLst>
                  <a:ext uri="{FF2B5EF4-FFF2-40B4-BE49-F238E27FC236}">
                    <a16:creationId xmlns:a16="http://schemas.microsoft.com/office/drawing/2014/main" id="{C5B397FF-E381-BEE5-C859-1986D6398DFA}"/>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4" name="object 5">
                <a:extLst>
                  <a:ext uri="{FF2B5EF4-FFF2-40B4-BE49-F238E27FC236}">
                    <a16:creationId xmlns:a16="http://schemas.microsoft.com/office/drawing/2014/main" id="{0432DB45-226E-4700-9953-EE0D2DA66244}"/>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5" name="object 10">
            <a:extLst>
              <a:ext uri="{FF2B5EF4-FFF2-40B4-BE49-F238E27FC236}">
                <a16:creationId xmlns:a16="http://schemas.microsoft.com/office/drawing/2014/main" id="{657FE89C-3101-A302-B2AF-68014C1891B4}"/>
              </a:ext>
            </a:extLst>
          </p:cNvPr>
          <p:cNvSpPr txBox="1"/>
          <p:nvPr/>
        </p:nvSpPr>
        <p:spPr>
          <a:xfrm>
            <a:off x="620674" y="2286000"/>
            <a:ext cx="10502265" cy="3247043"/>
          </a:xfrm>
          <a:prstGeom prst="rect">
            <a:avLst/>
          </a:prstGeom>
        </p:spPr>
        <p:txBody>
          <a:bodyPr vert="horz" wrap="square" lIns="0" tIns="134620" rIns="0" bIns="0" rtlCol="0">
            <a:spAutoFit/>
          </a:bodyPr>
          <a:lstStyle/>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Reduces manual workload through automated CO, PO calculations.</a:t>
            </a:r>
          </a:p>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Improves accuracy by minimizing human errors in attainment computation.</a:t>
            </a:r>
          </a:p>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Centralized data management enables easy access and organized record keeping.</a:t>
            </a:r>
          </a:p>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Role-based access control ensures data security and confidentiality.</a:t>
            </a:r>
          </a:p>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Helps monitor student performance and identify students needing support.</a:t>
            </a:r>
          </a:p>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Generates reports quickly, supporting audits and accreditation processes.</a:t>
            </a:r>
          </a:p>
          <a:p>
            <a:pPr marL="285750" indent="-285750" algn="l">
              <a:lnSpc>
                <a:spcPts val="2999"/>
              </a:lnSpc>
              <a:spcBef>
                <a:spcPct val="0"/>
              </a:spcBef>
              <a:buFont typeface="Arial" panose="020B0604020202020204" pitchFamily="34" charset="0"/>
              <a:buChar char="•"/>
            </a:pPr>
            <a:r>
              <a:rPr lang="en-US" sz="1800" spc="-49" dirty="0">
                <a:solidFill>
                  <a:schemeClr val="tx1"/>
                </a:solidFill>
                <a:latin typeface="Times New Roman" panose="02020603050405020304" pitchFamily="18" charset="0"/>
                <a:ea typeface="Futura"/>
                <a:cs typeface="Times New Roman" panose="02020603050405020304" pitchFamily="18" charset="0"/>
                <a:sym typeface="Futura"/>
              </a:rPr>
              <a:t>Flexible and scalable system suitable for future enhancements.</a:t>
            </a:r>
          </a:p>
          <a:p>
            <a:pPr marL="298450" indent="-285750">
              <a:lnSpc>
                <a:spcPct val="100000"/>
              </a:lnSpc>
              <a:spcBef>
                <a:spcPts val="1060"/>
              </a:spcBef>
              <a:buFont typeface="Arial" panose="020B0604020202020204" pitchFamily="34" charset="0"/>
              <a:buChar char="•"/>
              <a:tabLst>
                <a:tab pos="526415" algn="l"/>
              </a:tabLst>
            </a:pP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26" name="object 6">
            <a:extLst>
              <a:ext uri="{FF2B5EF4-FFF2-40B4-BE49-F238E27FC236}">
                <a16:creationId xmlns:a16="http://schemas.microsoft.com/office/drawing/2014/main" id="{4463D989-5A08-82C8-08CF-F02661A4EBAC}"/>
              </a:ext>
            </a:extLst>
          </p:cNvPr>
          <p:cNvPicPr/>
          <p:nvPr/>
        </p:nvPicPr>
        <p:blipFill>
          <a:blip r:embed="rId4" cstate="print"/>
          <a:stretch>
            <a:fillRect/>
          </a:stretch>
        </p:blipFill>
        <p:spPr>
          <a:xfrm>
            <a:off x="10316464" y="211950"/>
            <a:ext cx="1489926" cy="411073"/>
          </a:xfrm>
          <a:prstGeom prst="rect">
            <a:avLst/>
          </a:prstGeom>
        </p:spPr>
      </p:pic>
      <p:sp>
        <p:nvSpPr>
          <p:cNvPr id="27" name="object 11">
            <a:extLst>
              <a:ext uri="{FF2B5EF4-FFF2-40B4-BE49-F238E27FC236}">
                <a16:creationId xmlns:a16="http://schemas.microsoft.com/office/drawing/2014/main" id="{EC7C5357-C906-980A-190D-77B7B43AB1B6}"/>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lang="en-US" sz="1800" spc="-25" dirty="0">
                <a:latin typeface="Trebuchet MS"/>
                <a:cs typeface="Trebuchet MS"/>
              </a:rPr>
              <a:t>13</a:t>
            </a:r>
            <a:endParaRPr sz="1800" dirty="0">
              <a:latin typeface="Trebuchet MS"/>
              <a:cs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Google Shape;287;p41">
            <a:extLst>
              <a:ext uri="{FF2B5EF4-FFF2-40B4-BE49-F238E27FC236}">
                <a16:creationId xmlns:a16="http://schemas.microsoft.com/office/drawing/2014/main" id="{624173AC-5A9F-A7DF-7694-0A6E2229563C}"/>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0" name="Google Shape;287;p41">
            <a:extLst>
              <a:ext uri="{FF2B5EF4-FFF2-40B4-BE49-F238E27FC236}">
                <a16:creationId xmlns:a16="http://schemas.microsoft.com/office/drawing/2014/main" id="{C5E2A1B0-12B3-378F-8DD0-D3DB39EF2CE5}"/>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sp>
        <p:nvSpPr>
          <p:cNvPr id="6" name="object 6"/>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7" name="object 7"/>
          <p:cNvPicPr/>
          <p:nvPr/>
        </p:nvPicPr>
        <p:blipFill>
          <a:blip r:embed="rId3" cstate="print"/>
          <a:stretch>
            <a:fillRect/>
          </a:stretch>
        </p:blipFill>
        <p:spPr>
          <a:xfrm>
            <a:off x="371375" y="190588"/>
            <a:ext cx="953524" cy="545478"/>
          </a:xfrm>
          <a:prstGeom prst="rect">
            <a:avLst/>
          </a:prstGeom>
        </p:spPr>
      </p:pic>
      <p:sp>
        <p:nvSpPr>
          <p:cNvPr id="11" name="object 14">
            <a:extLst>
              <a:ext uri="{FF2B5EF4-FFF2-40B4-BE49-F238E27FC236}">
                <a16:creationId xmlns:a16="http://schemas.microsoft.com/office/drawing/2014/main" id="{74EAF412-F039-9D5E-1431-FE1C44DDB13C}"/>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pic>
        <p:nvPicPr>
          <p:cNvPr id="14" name="object 6">
            <a:extLst>
              <a:ext uri="{FF2B5EF4-FFF2-40B4-BE49-F238E27FC236}">
                <a16:creationId xmlns:a16="http://schemas.microsoft.com/office/drawing/2014/main" id="{7D255450-F64B-915D-C5DA-36162D0D0526}"/>
              </a:ext>
            </a:extLst>
          </p:cNvPr>
          <p:cNvPicPr/>
          <p:nvPr/>
        </p:nvPicPr>
        <p:blipFill>
          <a:blip r:embed="rId4" cstate="print"/>
          <a:stretch>
            <a:fillRect/>
          </a:stretch>
        </p:blipFill>
        <p:spPr>
          <a:xfrm>
            <a:off x="10316464" y="211950"/>
            <a:ext cx="1489926" cy="411073"/>
          </a:xfrm>
          <a:prstGeom prst="rect">
            <a:avLst/>
          </a:prstGeom>
        </p:spPr>
      </p:pic>
      <p:grpSp>
        <p:nvGrpSpPr>
          <p:cNvPr id="15" name="Group 14">
            <a:extLst>
              <a:ext uri="{FF2B5EF4-FFF2-40B4-BE49-F238E27FC236}">
                <a16:creationId xmlns:a16="http://schemas.microsoft.com/office/drawing/2014/main" id="{C8A19278-F7C0-E428-1EAD-2112514DB9DA}"/>
              </a:ext>
            </a:extLst>
          </p:cNvPr>
          <p:cNvGrpSpPr/>
          <p:nvPr/>
        </p:nvGrpSpPr>
        <p:grpSpPr>
          <a:xfrm>
            <a:off x="593242" y="966343"/>
            <a:ext cx="11005515" cy="1091057"/>
            <a:chOff x="593242" y="890143"/>
            <a:chExt cx="11005515" cy="1091057"/>
          </a:xfrm>
        </p:grpSpPr>
        <p:sp>
          <p:nvSpPr>
            <p:cNvPr id="16" name="object 9">
              <a:extLst>
                <a:ext uri="{FF2B5EF4-FFF2-40B4-BE49-F238E27FC236}">
                  <a16:creationId xmlns:a16="http://schemas.microsoft.com/office/drawing/2014/main" id="{16E3B418-EE4D-F30D-CC70-AC798DFCF6A9}"/>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APPLICATIONS :</a:t>
              </a:r>
            </a:p>
          </p:txBody>
        </p:sp>
        <p:grpSp>
          <p:nvGrpSpPr>
            <p:cNvPr id="17" name="Group 16">
              <a:extLst>
                <a:ext uri="{FF2B5EF4-FFF2-40B4-BE49-F238E27FC236}">
                  <a16:creationId xmlns:a16="http://schemas.microsoft.com/office/drawing/2014/main" id="{CB879854-AE86-C878-ABE3-D3708AB76364}"/>
                </a:ext>
              </a:extLst>
            </p:cNvPr>
            <p:cNvGrpSpPr/>
            <p:nvPr/>
          </p:nvGrpSpPr>
          <p:grpSpPr>
            <a:xfrm>
              <a:off x="685800" y="1860169"/>
              <a:ext cx="4857750" cy="121031"/>
              <a:chOff x="560438" y="2224532"/>
              <a:chExt cx="4857750" cy="121031"/>
            </a:xfrm>
          </p:grpSpPr>
          <p:sp>
            <p:nvSpPr>
              <p:cNvPr id="18" name="object 4">
                <a:extLst>
                  <a:ext uri="{FF2B5EF4-FFF2-40B4-BE49-F238E27FC236}">
                    <a16:creationId xmlns:a16="http://schemas.microsoft.com/office/drawing/2014/main" id="{FA09D1F1-38D8-EC0E-27A1-CB9C54441471}"/>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19" name="object 5">
                <a:extLst>
                  <a:ext uri="{FF2B5EF4-FFF2-40B4-BE49-F238E27FC236}">
                    <a16:creationId xmlns:a16="http://schemas.microsoft.com/office/drawing/2014/main" id="{5BB0DD26-9BB0-446D-10D6-EB4891FCDACC}"/>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0" name="object 10">
            <a:extLst>
              <a:ext uri="{FF2B5EF4-FFF2-40B4-BE49-F238E27FC236}">
                <a16:creationId xmlns:a16="http://schemas.microsoft.com/office/drawing/2014/main" id="{CB3E2B77-71D7-4807-657A-67EAFDD834DE}"/>
              </a:ext>
            </a:extLst>
          </p:cNvPr>
          <p:cNvSpPr txBox="1"/>
          <p:nvPr/>
        </p:nvSpPr>
        <p:spPr>
          <a:xfrm>
            <a:off x="620674" y="2286000"/>
            <a:ext cx="10502265" cy="3410164"/>
          </a:xfrm>
          <a:prstGeom prst="rect">
            <a:avLst/>
          </a:prstGeom>
        </p:spPr>
        <p:txBody>
          <a:bodyPr vert="horz" wrap="square" lIns="0" tIns="134620" rIns="0" bIns="0" rtlCol="0">
            <a:spAutoFit/>
          </a:bodyPr>
          <a:lstStyle/>
          <a:p>
            <a:pPr marL="285750" indent="-285750">
              <a:lnSpc>
                <a:spcPct val="150000"/>
              </a:lnSpc>
              <a:buFont typeface="Arial" panose="020B0604020202020204" pitchFamily="34" charset="0"/>
              <a:buChar char="•"/>
            </a:pPr>
            <a:r>
              <a:rPr lang="en-IN" b="1" dirty="0">
                <a:solidFill>
                  <a:schemeClr val="tx1"/>
                </a:solidFill>
                <a:latin typeface="Times New Roman"/>
                <a:cs typeface="Times New Roman"/>
              </a:rPr>
              <a:t>Student Performance Monitoring : </a:t>
            </a:r>
            <a:r>
              <a:rPr lang="en-IN" dirty="0">
                <a:solidFill>
                  <a:schemeClr val="tx1"/>
                </a:solidFill>
                <a:latin typeface="Times New Roman"/>
                <a:cs typeface="Times New Roman"/>
              </a:rPr>
              <a:t>Tracks achievement of Course Outcomes (COs) and Program Outcomes (POs).</a:t>
            </a:r>
          </a:p>
          <a:p>
            <a:pPr marL="285750" indent="-285750">
              <a:lnSpc>
                <a:spcPct val="150000"/>
              </a:lnSpc>
              <a:buFont typeface="Arial" panose="020B0604020202020204" pitchFamily="34" charset="0"/>
              <a:buChar char="•"/>
            </a:pPr>
            <a:r>
              <a:rPr lang="en-IN" b="1" dirty="0">
                <a:solidFill>
                  <a:schemeClr val="tx1"/>
                </a:solidFill>
                <a:latin typeface="Times New Roman"/>
                <a:cs typeface="Times New Roman"/>
              </a:rPr>
              <a:t>Accreditation Support: </a:t>
            </a:r>
            <a:r>
              <a:rPr lang="en-IN" dirty="0">
                <a:solidFill>
                  <a:schemeClr val="tx1"/>
                </a:solidFill>
                <a:latin typeface="Times New Roman"/>
                <a:cs typeface="Times New Roman"/>
              </a:rPr>
              <a:t>Facilitates NBA accreditation by providing structured, verifiable outcome-based data.</a:t>
            </a:r>
          </a:p>
          <a:p>
            <a:pPr marL="285750" indent="-285750">
              <a:lnSpc>
                <a:spcPct val="150000"/>
              </a:lnSpc>
              <a:buFont typeface="Arial" panose="020B0604020202020204" pitchFamily="34" charset="0"/>
              <a:buChar char="•"/>
            </a:pPr>
            <a:r>
              <a:rPr lang="en-IN" b="1" dirty="0">
                <a:solidFill>
                  <a:schemeClr val="tx1"/>
                </a:solidFill>
                <a:latin typeface="Times New Roman"/>
                <a:cs typeface="Times New Roman"/>
              </a:rPr>
              <a:t>Centralized Academic Data Management: </a:t>
            </a:r>
            <a:r>
              <a:rPr lang="en-IN" dirty="0">
                <a:solidFill>
                  <a:schemeClr val="tx1"/>
                </a:solidFill>
                <a:latin typeface="Times New Roman"/>
                <a:cs typeface="Times New Roman"/>
              </a:rPr>
              <a:t>Stores marks, CO–PO mappings, and surveys in a single secure platform.</a:t>
            </a:r>
          </a:p>
          <a:p>
            <a:pPr marL="285750" indent="-285750">
              <a:lnSpc>
                <a:spcPct val="150000"/>
              </a:lnSpc>
              <a:buFont typeface="Arial" panose="020B0604020202020204" pitchFamily="34" charset="0"/>
              <a:buChar char="•"/>
            </a:pPr>
            <a:r>
              <a:rPr lang="en-IN" b="1" dirty="0">
                <a:solidFill>
                  <a:schemeClr val="tx1"/>
                </a:solidFill>
                <a:latin typeface="Times New Roman"/>
                <a:cs typeface="Times New Roman"/>
              </a:rPr>
              <a:t>Student Well-Being Monitoring : </a:t>
            </a:r>
            <a:r>
              <a:rPr lang="en-IN" dirty="0" err="1">
                <a:solidFill>
                  <a:schemeClr val="tx1"/>
                </a:solidFill>
                <a:latin typeface="Times New Roman"/>
                <a:cs typeface="Times New Roman"/>
              </a:rPr>
              <a:t>Analyzes</a:t>
            </a:r>
            <a:r>
              <a:rPr lang="en-IN" dirty="0">
                <a:solidFill>
                  <a:schemeClr val="tx1"/>
                </a:solidFill>
                <a:latin typeface="Times New Roman"/>
                <a:cs typeface="Times New Roman"/>
              </a:rPr>
              <a:t>  stress surveys to support counselling  and enhance overall student welfare.</a:t>
            </a:r>
          </a:p>
          <a:p>
            <a:pPr marL="285750" indent="-285750">
              <a:lnSpc>
                <a:spcPct val="150000"/>
              </a:lnSpc>
              <a:buFont typeface="Arial" panose="020B0604020202020204" pitchFamily="34" charset="0"/>
              <a:buChar char="•"/>
            </a:pPr>
            <a:r>
              <a:rPr lang="en-IN" b="1" dirty="0">
                <a:solidFill>
                  <a:schemeClr val="tx1"/>
                </a:solidFill>
                <a:latin typeface="Times New Roman"/>
                <a:cs typeface="Times New Roman"/>
              </a:rPr>
              <a:t>Informed Decision Making : </a:t>
            </a:r>
            <a:r>
              <a:rPr lang="en-IN" dirty="0">
                <a:solidFill>
                  <a:schemeClr val="tx1"/>
                </a:solidFill>
                <a:latin typeface="Times New Roman"/>
                <a:cs typeface="Times New Roman"/>
              </a:rPr>
              <a:t>Helps faculty and administration improve curriculum and teaching strategies.</a:t>
            </a:r>
          </a:p>
        </p:txBody>
      </p:sp>
      <p:sp>
        <p:nvSpPr>
          <p:cNvPr id="21" name="object 11">
            <a:extLst>
              <a:ext uri="{FF2B5EF4-FFF2-40B4-BE49-F238E27FC236}">
                <a16:creationId xmlns:a16="http://schemas.microsoft.com/office/drawing/2014/main" id="{8E4046A5-76A2-4642-2402-62FA3836A182}"/>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lang="en-US" sz="1800" spc="-25" dirty="0">
                <a:latin typeface="Trebuchet MS"/>
                <a:cs typeface="Trebuchet MS"/>
              </a:rPr>
              <a:t>14</a:t>
            </a:r>
            <a:endParaRPr sz="1800" dirty="0">
              <a:latin typeface="Trebuchet MS"/>
              <a:cs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Google Shape;287;p41">
            <a:extLst>
              <a:ext uri="{FF2B5EF4-FFF2-40B4-BE49-F238E27FC236}">
                <a16:creationId xmlns:a16="http://schemas.microsoft.com/office/drawing/2014/main" id="{B4912DBF-8EA8-4CD4-A0EA-1B503ACC6988}"/>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13" name="Google Shape;287;p41">
            <a:extLst>
              <a:ext uri="{FF2B5EF4-FFF2-40B4-BE49-F238E27FC236}">
                <a16:creationId xmlns:a16="http://schemas.microsoft.com/office/drawing/2014/main" id="{74387834-753A-6AED-2C28-92F12E08789F}"/>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6" name="object 6"/>
          <p:cNvPicPr/>
          <p:nvPr/>
        </p:nvPicPr>
        <p:blipFill>
          <a:blip r:embed="rId3" cstate="print"/>
          <a:stretch>
            <a:fillRect/>
          </a:stretch>
        </p:blipFill>
        <p:spPr>
          <a:xfrm>
            <a:off x="10316464" y="211950"/>
            <a:ext cx="1524000" cy="436765"/>
          </a:xfrm>
          <a:prstGeom prst="rect">
            <a:avLst/>
          </a:prstGeom>
        </p:spPr>
      </p:pic>
      <p:sp>
        <p:nvSpPr>
          <p:cNvPr id="7" name="object 7"/>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8" name="object 8"/>
          <p:cNvPicPr/>
          <p:nvPr/>
        </p:nvPicPr>
        <p:blipFill>
          <a:blip r:embed="rId4" cstate="print"/>
          <a:stretch>
            <a:fillRect/>
          </a:stretch>
        </p:blipFill>
        <p:spPr>
          <a:xfrm>
            <a:off x="371375" y="190588"/>
            <a:ext cx="953524" cy="545478"/>
          </a:xfrm>
          <a:prstGeom prst="rect">
            <a:avLst/>
          </a:prstGeom>
        </p:spPr>
      </p:pic>
      <p:sp>
        <p:nvSpPr>
          <p:cNvPr id="15" name="object 14">
            <a:extLst>
              <a:ext uri="{FF2B5EF4-FFF2-40B4-BE49-F238E27FC236}">
                <a16:creationId xmlns:a16="http://schemas.microsoft.com/office/drawing/2014/main" id="{32002D29-B130-AE66-2050-A02B1960B586}"/>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18" name="Group 17">
            <a:extLst>
              <a:ext uri="{FF2B5EF4-FFF2-40B4-BE49-F238E27FC236}">
                <a16:creationId xmlns:a16="http://schemas.microsoft.com/office/drawing/2014/main" id="{1FCEA4CE-B711-35D0-1517-163F711E8493}"/>
              </a:ext>
            </a:extLst>
          </p:cNvPr>
          <p:cNvGrpSpPr/>
          <p:nvPr/>
        </p:nvGrpSpPr>
        <p:grpSpPr>
          <a:xfrm>
            <a:off x="593242" y="890143"/>
            <a:ext cx="11005515" cy="1091057"/>
            <a:chOff x="593242" y="890143"/>
            <a:chExt cx="11005515" cy="1091057"/>
          </a:xfrm>
        </p:grpSpPr>
        <p:sp>
          <p:nvSpPr>
            <p:cNvPr id="19" name="object 9">
              <a:extLst>
                <a:ext uri="{FF2B5EF4-FFF2-40B4-BE49-F238E27FC236}">
                  <a16:creationId xmlns:a16="http://schemas.microsoft.com/office/drawing/2014/main" id="{104BDDE7-9491-628F-8CB4-9FAE7348A9AB}"/>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FUTURE SCOPE:</a:t>
              </a:r>
            </a:p>
          </p:txBody>
        </p:sp>
        <p:grpSp>
          <p:nvGrpSpPr>
            <p:cNvPr id="20" name="Group 19">
              <a:extLst>
                <a:ext uri="{FF2B5EF4-FFF2-40B4-BE49-F238E27FC236}">
                  <a16:creationId xmlns:a16="http://schemas.microsoft.com/office/drawing/2014/main" id="{30A5EE6D-CD6A-1EA8-EAE4-2973A7911437}"/>
                </a:ext>
              </a:extLst>
            </p:cNvPr>
            <p:cNvGrpSpPr/>
            <p:nvPr/>
          </p:nvGrpSpPr>
          <p:grpSpPr>
            <a:xfrm>
              <a:off x="685800" y="1860169"/>
              <a:ext cx="4857750" cy="121031"/>
              <a:chOff x="560438" y="2224532"/>
              <a:chExt cx="4857750" cy="121031"/>
            </a:xfrm>
          </p:grpSpPr>
          <p:sp>
            <p:nvSpPr>
              <p:cNvPr id="21" name="object 4">
                <a:extLst>
                  <a:ext uri="{FF2B5EF4-FFF2-40B4-BE49-F238E27FC236}">
                    <a16:creationId xmlns:a16="http://schemas.microsoft.com/office/drawing/2014/main" id="{727F060B-C45D-D344-BF46-9714351A9137}"/>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2" name="object 5">
                <a:extLst>
                  <a:ext uri="{FF2B5EF4-FFF2-40B4-BE49-F238E27FC236}">
                    <a16:creationId xmlns:a16="http://schemas.microsoft.com/office/drawing/2014/main" id="{D5BB2C6C-A9FF-82EA-B984-ACDEC84562FC}"/>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3" name="object 11">
            <a:extLst>
              <a:ext uri="{FF2B5EF4-FFF2-40B4-BE49-F238E27FC236}">
                <a16:creationId xmlns:a16="http://schemas.microsoft.com/office/drawing/2014/main" id="{1A618D95-E9B6-FB48-4907-D2555D74F3BB}"/>
              </a:ext>
            </a:extLst>
          </p:cNvPr>
          <p:cNvSpPr txBox="1"/>
          <p:nvPr/>
        </p:nvSpPr>
        <p:spPr>
          <a:xfrm>
            <a:off x="11743181" y="6406319"/>
            <a:ext cx="269240" cy="264624"/>
          </a:xfrm>
          <a:prstGeom prst="rect">
            <a:avLst/>
          </a:prstGeom>
        </p:spPr>
        <p:txBody>
          <a:bodyPr vert="horz" wrap="square" lIns="0" tIns="0" rIns="0" bIns="0" rtlCol="0">
            <a:spAutoFit/>
          </a:bodyPr>
          <a:lstStyle/>
          <a:p>
            <a:pPr marL="12700">
              <a:lnSpc>
                <a:spcPts val="2150"/>
              </a:lnSpc>
            </a:pPr>
            <a:r>
              <a:rPr lang="en-US" sz="1800" spc="-25" dirty="0">
                <a:latin typeface="Trebuchet MS"/>
                <a:cs typeface="Trebuchet MS"/>
              </a:rPr>
              <a:t>15</a:t>
            </a:r>
            <a:endParaRPr sz="1800" dirty="0">
              <a:latin typeface="Trebuchet MS"/>
              <a:cs typeface="Trebuchet MS"/>
            </a:endParaRPr>
          </a:p>
        </p:txBody>
      </p:sp>
      <p:sp>
        <p:nvSpPr>
          <p:cNvPr id="24" name="object 10">
            <a:extLst>
              <a:ext uri="{FF2B5EF4-FFF2-40B4-BE49-F238E27FC236}">
                <a16:creationId xmlns:a16="http://schemas.microsoft.com/office/drawing/2014/main" id="{6EA30903-623C-0643-6195-ACA3330BC1F9}"/>
              </a:ext>
            </a:extLst>
          </p:cNvPr>
          <p:cNvSpPr txBox="1"/>
          <p:nvPr/>
        </p:nvSpPr>
        <p:spPr>
          <a:xfrm>
            <a:off x="620674" y="2286000"/>
            <a:ext cx="10502265" cy="2628925"/>
          </a:xfrm>
          <a:prstGeom prst="rect">
            <a:avLst/>
          </a:prstGeom>
        </p:spPr>
        <p:txBody>
          <a:bodyPr vert="horz" wrap="square" lIns="0" tIns="134620" rIns="0" bIns="0" rtlCol="0">
            <a:spAutoFit/>
          </a:bodyPr>
          <a:lstStyle/>
          <a:p>
            <a:pPr marL="285750" indent="-285750">
              <a:buFont typeface="Arial" panose="020B0604020202020204" pitchFamily="34" charset="0"/>
              <a:buChar char="•"/>
            </a:pPr>
            <a:r>
              <a:rPr lang="en-IN" dirty="0">
                <a:latin typeface="Times New Roman"/>
                <a:cs typeface="Times New Roman"/>
              </a:rPr>
              <a:t>Integration AI-based analytics for enhanced CO–PO prediction</a:t>
            </a:r>
          </a:p>
          <a:p>
            <a:pPr marL="285750" indent="-285750">
              <a:buFont typeface="Arial" panose="020B0604020202020204" pitchFamily="34" charset="0"/>
              <a:buChar char="•"/>
            </a:pPr>
            <a:endParaRPr lang="en-IN" dirty="0">
              <a:latin typeface="Times New Roman"/>
              <a:cs typeface="Times New Roman"/>
            </a:endParaRPr>
          </a:p>
          <a:p>
            <a:pPr marL="285750" indent="-285750">
              <a:buFont typeface="Arial" panose="020B0604020202020204" pitchFamily="34" charset="0"/>
              <a:buChar char="•"/>
            </a:pPr>
            <a:r>
              <a:rPr lang="en-IN" dirty="0">
                <a:latin typeface="Times New Roman"/>
                <a:cs typeface="Times New Roman"/>
              </a:rPr>
              <a:t>Implement real-time dashboards for students and faculty</a:t>
            </a:r>
          </a:p>
          <a:p>
            <a:endParaRPr lang="en-IN" dirty="0">
              <a:latin typeface="Times New Roman"/>
              <a:cs typeface="Times New Roman"/>
            </a:endParaRPr>
          </a:p>
          <a:p>
            <a:pPr marL="285750" indent="-285750">
              <a:buFont typeface="Arial" panose="020B0604020202020204" pitchFamily="34" charset="0"/>
              <a:buChar char="•"/>
            </a:pPr>
            <a:r>
              <a:rPr lang="en-IN" dirty="0">
                <a:latin typeface="Times New Roman"/>
                <a:cs typeface="Times New Roman"/>
              </a:rPr>
              <a:t>Expand stress monitoring with personalized intervention strategies</a:t>
            </a:r>
          </a:p>
          <a:p>
            <a:endParaRPr lang="en-IN" dirty="0">
              <a:latin typeface="Times New Roman"/>
              <a:cs typeface="Times New Roman"/>
            </a:endParaRPr>
          </a:p>
          <a:p>
            <a:pPr marL="285750" indent="-285750">
              <a:buFont typeface="Arial" panose="020B0604020202020204" pitchFamily="34" charset="0"/>
              <a:buChar char="•"/>
            </a:pPr>
            <a:r>
              <a:rPr lang="en-IN" dirty="0">
                <a:latin typeface="Times New Roman"/>
                <a:cs typeface="Times New Roman"/>
              </a:rPr>
              <a:t>Incorporate mobile application support for easy access</a:t>
            </a:r>
          </a:p>
          <a:p>
            <a:endParaRPr lang="en-IN" dirty="0">
              <a:latin typeface="Times New Roman"/>
              <a:cs typeface="Times New Roman"/>
            </a:endParaRPr>
          </a:p>
          <a:p>
            <a:pPr marL="285750" indent="-285750">
              <a:buFont typeface="Arial" panose="020B0604020202020204" pitchFamily="34" charset="0"/>
              <a:buChar char="•"/>
            </a:pPr>
            <a:r>
              <a:rPr lang="en-IN" dirty="0">
                <a:latin typeface="Times New Roman"/>
                <a:cs typeface="Times New Roman"/>
              </a:rPr>
              <a:t>Utilize data to improve curriculum and support academic research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 name="Google Shape;287;p41">
            <a:extLst>
              <a:ext uri="{FF2B5EF4-FFF2-40B4-BE49-F238E27FC236}">
                <a16:creationId xmlns:a16="http://schemas.microsoft.com/office/drawing/2014/main" id="{1EA196DE-00A1-A9ED-5420-229888B72627}"/>
              </a:ext>
            </a:extLst>
          </p:cNvPr>
          <p:cNvPicPr/>
          <p:nvPr/>
        </p:nvPicPr>
        <p:blipFill>
          <a:blip r:embed="rId2">
            <a:alphaModFix amt="35000"/>
          </a:blip>
          <a:srcRect l="11023" r="13738" b="8154"/>
          <a:stretch/>
        </p:blipFill>
        <p:spPr>
          <a:xfrm rot="19904170">
            <a:off x="5208790" y="2238495"/>
            <a:ext cx="9079428" cy="6493866"/>
          </a:xfrm>
          <a:prstGeom prst="rect">
            <a:avLst/>
          </a:prstGeom>
          <a:noFill/>
          <a:ln w="0">
            <a:noFill/>
          </a:ln>
        </p:spPr>
      </p:pic>
      <p:pic>
        <p:nvPicPr>
          <p:cNvPr id="26" name="Google Shape;287;p41">
            <a:extLst>
              <a:ext uri="{FF2B5EF4-FFF2-40B4-BE49-F238E27FC236}">
                <a16:creationId xmlns:a16="http://schemas.microsoft.com/office/drawing/2014/main" id="{90400AE5-5F7A-AAE0-54B3-EDF712520766}"/>
              </a:ext>
            </a:extLst>
          </p:cNvPr>
          <p:cNvPicPr/>
          <p:nvPr/>
        </p:nvPicPr>
        <p:blipFill>
          <a:blip r:embed="rId2">
            <a:alphaModFix amt="20000"/>
          </a:blip>
          <a:srcRect l="11023" r="13738" b="8154"/>
          <a:stretch/>
        </p:blipFill>
        <p:spPr>
          <a:xfrm rot="3400652">
            <a:off x="-1499656" y="3528416"/>
            <a:ext cx="5435931" cy="5464381"/>
          </a:xfrm>
          <a:prstGeom prst="rect">
            <a:avLst/>
          </a:prstGeom>
          <a:noFill/>
          <a:ln w="0">
            <a:noFill/>
          </a:ln>
        </p:spPr>
      </p:pic>
      <p:pic>
        <p:nvPicPr>
          <p:cNvPr id="7" name="object 7"/>
          <p:cNvPicPr/>
          <p:nvPr/>
        </p:nvPicPr>
        <p:blipFill>
          <a:blip r:embed="rId3" cstate="print"/>
          <a:stretch>
            <a:fillRect/>
          </a:stretch>
        </p:blipFill>
        <p:spPr>
          <a:xfrm>
            <a:off x="10316464" y="211950"/>
            <a:ext cx="1489926" cy="411073"/>
          </a:xfrm>
          <a:prstGeom prst="rect">
            <a:avLst/>
          </a:prstGeom>
        </p:spPr>
      </p:pic>
      <p:sp>
        <p:nvSpPr>
          <p:cNvPr id="8" name="object 8"/>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9" name="object 9"/>
          <p:cNvPicPr/>
          <p:nvPr/>
        </p:nvPicPr>
        <p:blipFill>
          <a:blip r:embed="rId4" cstate="print"/>
          <a:stretch>
            <a:fillRect/>
          </a:stretch>
        </p:blipFill>
        <p:spPr>
          <a:xfrm>
            <a:off x="371375" y="190588"/>
            <a:ext cx="953524" cy="545478"/>
          </a:xfrm>
          <a:prstGeom prst="rect">
            <a:avLst/>
          </a:prstGeom>
        </p:spPr>
      </p:pic>
      <p:sp>
        <p:nvSpPr>
          <p:cNvPr id="12" name="object 12"/>
          <p:cNvSpPr txBox="1">
            <a:spLocks noGrp="1"/>
          </p:cNvSpPr>
          <p:nvPr>
            <p:ph type="sldNum" sz="quarter" idx="7"/>
          </p:nvPr>
        </p:nvSpPr>
        <p:spPr>
          <a:xfrm>
            <a:off x="11717781" y="6406319"/>
            <a:ext cx="332740" cy="264624"/>
          </a:xfrm>
          <a:prstGeom prst="rect">
            <a:avLst/>
          </a:prstGeom>
        </p:spPr>
        <p:txBody>
          <a:bodyPr vert="horz" wrap="square" lIns="0" tIns="0" rIns="0" bIns="0" rtlCol="0">
            <a:spAutoFit/>
          </a:bodyPr>
          <a:lstStyle/>
          <a:p>
            <a:pPr marL="38100">
              <a:lnSpc>
                <a:spcPts val="2150"/>
              </a:lnSpc>
            </a:pPr>
            <a:r>
              <a:rPr lang="en-US" spc="-25" dirty="0"/>
              <a:t>16</a:t>
            </a:r>
            <a:endParaRPr spc="-25" dirty="0"/>
          </a:p>
        </p:txBody>
      </p:sp>
      <p:sp>
        <p:nvSpPr>
          <p:cNvPr id="16" name="object 14">
            <a:extLst>
              <a:ext uri="{FF2B5EF4-FFF2-40B4-BE49-F238E27FC236}">
                <a16:creationId xmlns:a16="http://schemas.microsoft.com/office/drawing/2014/main" id="{44FFCE4B-36C0-88E3-23E0-5B1EE4B46C1D}"/>
              </a:ext>
            </a:extLst>
          </p:cNvPr>
          <p:cNvSpPr txBox="1">
            <a:spLocks noGrp="1"/>
          </p:cNvSpPr>
          <p:nvPr>
            <p:ph type="ftr" sz="quarter" idx="5"/>
          </p:nvPr>
        </p:nvSpPr>
        <p:spPr>
          <a:xfrm>
            <a:off x="4508995" y="6437236"/>
            <a:ext cx="3174010" cy="269304"/>
          </a:xfrm>
          <a:prstGeom prst="rect">
            <a:avLst/>
          </a:prstGeom>
        </p:spPr>
        <p:txBody>
          <a:bodyPr vert="horz" wrap="square" lIns="0" tIns="0" rIns="0" bIns="0" rtlCol="0">
            <a:spAutoFit/>
          </a:bodyPr>
          <a:lstStyle/>
          <a:p>
            <a:pPr marL="12700">
              <a:lnSpc>
                <a:spcPts val="2065"/>
              </a:lnSpc>
            </a:pPr>
            <a:r>
              <a:rPr lang="en-US" spc="-10" dirty="0"/>
              <a:t>Capstone Project (CPE – 316004)</a:t>
            </a:r>
            <a:endParaRPr spc="-10" dirty="0"/>
          </a:p>
        </p:txBody>
      </p:sp>
      <p:grpSp>
        <p:nvGrpSpPr>
          <p:cNvPr id="19" name="Group 18">
            <a:extLst>
              <a:ext uri="{FF2B5EF4-FFF2-40B4-BE49-F238E27FC236}">
                <a16:creationId xmlns:a16="http://schemas.microsoft.com/office/drawing/2014/main" id="{565BFB40-A3FF-FA2D-2EE5-F37491B444FA}"/>
              </a:ext>
            </a:extLst>
          </p:cNvPr>
          <p:cNvGrpSpPr/>
          <p:nvPr/>
        </p:nvGrpSpPr>
        <p:grpSpPr>
          <a:xfrm>
            <a:off x="593242" y="890143"/>
            <a:ext cx="11005515" cy="1091057"/>
            <a:chOff x="593242" y="890143"/>
            <a:chExt cx="11005515" cy="1091057"/>
          </a:xfrm>
        </p:grpSpPr>
        <p:sp>
          <p:nvSpPr>
            <p:cNvPr id="20" name="object 9">
              <a:extLst>
                <a:ext uri="{FF2B5EF4-FFF2-40B4-BE49-F238E27FC236}">
                  <a16:creationId xmlns:a16="http://schemas.microsoft.com/office/drawing/2014/main" id="{DB6623DE-AB1D-3D94-3A1B-04162C676CF2}"/>
                </a:ext>
              </a:extLst>
            </p:cNvPr>
            <p:cNvSpPr txBox="1">
              <a:spLocks/>
            </p:cNvSpPr>
            <p:nvPr/>
          </p:nvSpPr>
          <p:spPr>
            <a:xfrm>
              <a:off x="593242" y="890143"/>
              <a:ext cx="11005515" cy="824071"/>
            </a:xfrm>
            <a:prstGeom prst="rect">
              <a:avLst/>
            </a:prstGeom>
          </p:spPr>
          <p:txBody>
            <a:bodyPr vert="horz" wrap="square" lIns="0" tIns="328421" rIns="0" bIns="0" rtlCol="0">
              <a:spAutoFit/>
            </a:bodyPr>
            <a:lstStyle>
              <a:lvl1pPr>
                <a:defRPr sz="3200" b="1" i="0">
                  <a:solidFill>
                    <a:schemeClr val="tx1"/>
                  </a:solidFill>
                  <a:latin typeface="Times New Roman"/>
                  <a:ea typeface="+mj-ea"/>
                  <a:cs typeface="Times New Roman"/>
                </a:defRPr>
              </a:lvl1pPr>
            </a:lstStyle>
            <a:p>
              <a:pPr marL="172720">
                <a:spcBef>
                  <a:spcPts val="105"/>
                </a:spcBef>
              </a:pPr>
              <a:r>
                <a:rPr lang="en-US" spc="-10" dirty="0"/>
                <a:t>CONCLUSION:</a:t>
              </a:r>
            </a:p>
          </p:txBody>
        </p:sp>
        <p:grpSp>
          <p:nvGrpSpPr>
            <p:cNvPr id="21" name="Group 20">
              <a:extLst>
                <a:ext uri="{FF2B5EF4-FFF2-40B4-BE49-F238E27FC236}">
                  <a16:creationId xmlns:a16="http://schemas.microsoft.com/office/drawing/2014/main" id="{0A9099B7-FD6F-E9CB-E5AD-C0EC5B4FE46E}"/>
                </a:ext>
              </a:extLst>
            </p:cNvPr>
            <p:cNvGrpSpPr/>
            <p:nvPr/>
          </p:nvGrpSpPr>
          <p:grpSpPr>
            <a:xfrm>
              <a:off x="685800" y="1860169"/>
              <a:ext cx="4857750" cy="121031"/>
              <a:chOff x="560438" y="2224532"/>
              <a:chExt cx="4857750" cy="121031"/>
            </a:xfrm>
          </p:grpSpPr>
          <p:sp>
            <p:nvSpPr>
              <p:cNvPr id="22" name="object 4">
                <a:extLst>
                  <a:ext uri="{FF2B5EF4-FFF2-40B4-BE49-F238E27FC236}">
                    <a16:creationId xmlns:a16="http://schemas.microsoft.com/office/drawing/2014/main" id="{879B9AE7-E0D0-6728-7132-B27B6B6EA773}"/>
                  </a:ext>
                </a:extLst>
              </p:cNvPr>
              <p:cNvSpPr/>
              <p:nvPr/>
            </p:nvSpPr>
            <p:spPr>
              <a:xfrm>
                <a:off x="560438" y="2224532"/>
                <a:ext cx="4857750" cy="0"/>
              </a:xfrm>
              <a:custGeom>
                <a:avLst/>
                <a:gdLst/>
                <a:ahLst/>
                <a:cxnLst/>
                <a:rect l="l" t="t" r="r" b="b"/>
                <a:pathLst>
                  <a:path w="4857750">
                    <a:moveTo>
                      <a:pt x="0" y="0"/>
                    </a:moveTo>
                    <a:lnTo>
                      <a:pt x="4857127" y="0"/>
                    </a:lnTo>
                  </a:path>
                </a:pathLst>
              </a:custGeom>
              <a:ln w="19050">
                <a:solidFill>
                  <a:srgbClr val="000000"/>
                </a:solidFill>
                <a:prstDash val="sysDash"/>
              </a:ln>
            </p:spPr>
            <p:txBody>
              <a:bodyPr wrap="square" lIns="0" tIns="0" rIns="0" bIns="0" rtlCol="0"/>
              <a:lstStyle/>
              <a:p>
                <a:endParaRPr/>
              </a:p>
            </p:txBody>
          </p:sp>
          <p:sp>
            <p:nvSpPr>
              <p:cNvPr id="23" name="object 5">
                <a:extLst>
                  <a:ext uri="{FF2B5EF4-FFF2-40B4-BE49-F238E27FC236}">
                    <a16:creationId xmlns:a16="http://schemas.microsoft.com/office/drawing/2014/main" id="{549063C8-21CC-D716-F9D8-FAC91F01525C}"/>
                  </a:ext>
                </a:extLst>
              </p:cNvPr>
              <p:cNvSpPr/>
              <p:nvPr/>
            </p:nvSpPr>
            <p:spPr>
              <a:xfrm>
                <a:off x="560438" y="2345563"/>
                <a:ext cx="4857750" cy="0"/>
              </a:xfrm>
              <a:custGeom>
                <a:avLst/>
                <a:gdLst/>
                <a:ahLst/>
                <a:cxnLst/>
                <a:rect l="l" t="t" r="r" b="b"/>
                <a:pathLst>
                  <a:path w="4857750">
                    <a:moveTo>
                      <a:pt x="0" y="0"/>
                    </a:moveTo>
                    <a:lnTo>
                      <a:pt x="4857127" y="0"/>
                    </a:lnTo>
                  </a:path>
                </a:pathLst>
              </a:custGeom>
              <a:ln w="25400">
                <a:solidFill>
                  <a:srgbClr val="000000"/>
                </a:solidFill>
              </a:ln>
            </p:spPr>
            <p:txBody>
              <a:bodyPr wrap="square" lIns="0" tIns="0" rIns="0" bIns="0" rtlCol="0"/>
              <a:lstStyle/>
              <a:p>
                <a:endParaRPr/>
              </a:p>
            </p:txBody>
          </p:sp>
        </p:grpSp>
      </p:grpSp>
      <p:sp>
        <p:nvSpPr>
          <p:cNvPr id="27" name="object 10">
            <a:extLst>
              <a:ext uri="{FF2B5EF4-FFF2-40B4-BE49-F238E27FC236}">
                <a16:creationId xmlns:a16="http://schemas.microsoft.com/office/drawing/2014/main" id="{6150A58C-E3AD-15CA-E1D6-39B42CA3F7AA}"/>
              </a:ext>
            </a:extLst>
          </p:cNvPr>
          <p:cNvSpPr txBox="1"/>
          <p:nvPr/>
        </p:nvSpPr>
        <p:spPr>
          <a:xfrm>
            <a:off x="620674" y="2286000"/>
            <a:ext cx="10502265" cy="2163669"/>
          </a:xfrm>
          <a:prstGeom prst="rect">
            <a:avLst/>
          </a:prstGeom>
        </p:spPr>
        <p:txBody>
          <a:bodyPr vert="horz" wrap="square" lIns="0" tIns="134620" rIns="0" bIns="0" rtlCol="0">
            <a:spAutoFit/>
          </a:bodyPr>
          <a:lstStyle/>
          <a:p>
            <a:pPr algn="just">
              <a:lnSpc>
                <a:spcPct val="150000"/>
              </a:lnSpc>
            </a:pPr>
            <a:r>
              <a:rPr lang="en-US" sz="1800" spc="-52" dirty="0">
                <a:solidFill>
                  <a:schemeClr val="tx1"/>
                </a:solidFill>
                <a:latin typeface="Times New Roman" panose="02020603050405020304" pitchFamily="18" charset="0"/>
                <a:ea typeface="Futura"/>
                <a:cs typeface="Times New Roman" panose="02020603050405020304" pitchFamily="18" charset="0"/>
                <a:sym typeface="Futura"/>
              </a:rPr>
              <a:t>The Outcome Tracking System automates the Outcome Based Education process by simplifying CO–PO attainment calculation and CIS assessment management. It reduces manual effort, improves accuracy, and provides centralized academic data and automated reports. Overall, the system enables efficient and reliable outcome-based evaluation within educational institutions.</a:t>
            </a:r>
          </a:p>
          <a:p>
            <a:pPr marL="285750" indent="-285750">
              <a:lnSpc>
                <a:spcPct val="150000"/>
              </a:lnSpc>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4365307" y="3430081"/>
            <a:ext cx="3461385" cy="213868"/>
            <a:chOff x="560438" y="3866514"/>
            <a:chExt cx="3461385" cy="213868"/>
          </a:xfrm>
        </p:grpSpPr>
        <p:sp>
          <p:nvSpPr>
            <p:cNvPr id="5" name="object 5"/>
            <p:cNvSpPr/>
            <p:nvPr/>
          </p:nvSpPr>
          <p:spPr>
            <a:xfrm>
              <a:off x="560438" y="3866514"/>
              <a:ext cx="3461385" cy="0"/>
            </a:xfrm>
            <a:custGeom>
              <a:avLst/>
              <a:gdLst/>
              <a:ahLst/>
              <a:cxnLst/>
              <a:rect l="l" t="t" r="r" b="b"/>
              <a:pathLst>
                <a:path w="3461385">
                  <a:moveTo>
                    <a:pt x="0" y="0"/>
                  </a:moveTo>
                  <a:lnTo>
                    <a:pt x="3461016" y="0"/>
                  </a:lnTo>
                </a:path>
              </a:pathLst>
            </a:custGeom>
            <a:ln w="19050">
              <a:solidFill>
                <a:srgbClr val="000000"/>
              </a:solidFill>
              <a:prstDash val="sysDash"/>
            </a:ln>
          </p:spPr>
          <p:txBody>
            <a:bodyPr wrap="square" lIns="0" tIns="0" rIns="0" bIns="0" rtlCol="0"/>
            <a:lstStyle/>
            <a:p>
              <a:endParaRPr/>
            </a:p>
          </p:txBody>
        </p:sp>
        <p:sp>
          <p:nvSpPr>
            <p:cNvPr id="6" name="object 6"/>
            <p:cNvSpPr/>
            <p:nvPr/>
          </p:nvSpPr>
          <p:spPr>
            <a:xfrm>
              <a:off x="560438" y="4080382"/>
              <a:ext cx="3461385" cy="0"/>
            </a:xfrm>
            <a:custGeom>
              <a:avLst/>
              <a:gdLst/>
              <a:ahLst/>
              <a:cxnLst/>
              <a:rect l="l" t="t" r="r" b="b"/>
              <a:pathLst>
                <a:path w="3461385">
                  <a:moveTo>
                    <a:pt x="0" y="0"/>
                  </a:moveTo>
                  <a:lnTo>
                    <a:pt x="3461016" y="0"/>
                  </a:lnTo>
                </a:path>
              </a:pathLst>
            </a:custGeom>
            <a:ln w="25400">
              <a:solidFill>
                <a:srgbClr val="000000"/>
              </a:solidFill>
            </a:ln>
          </p:spPr>
          <p:txBody>
            <a:bodyPr wrap="square" lIns="0" tIns="0" rIns="0" bIns="0" rtlCol="0"/>
            <a:lstStyle/>
            <a:p>
              <a:endParaRPr/>
            </a:p>
          </p:txBody>
        </p:sp>
      </p:grpSp>
      <p:pic>
        <p:nvPicPr>
          <p:cNvPr id="7" name="object 7"/>
          <p:cNvPicPr/>
          <p:nvPr/>
        </p:nvPicPr>
        <p:blipFill>
          <a:blip r:embed="rId2" cstate="print"/>
          <a:stretch>
            <a:fillRect/>
          </a:stretch>
        </p:blipFill>
        <p:spPr>
          <a:xfrm>
            <a:off x="10316464" y="211950"/>
            <a:ext cx="1524000" cy="436765"/>
          </a:xfrm>
          <a:prstGeom prst="rect">
            <a:avLst/>
          </a:prstGeom>
        </p:spPr>
      </p:pic>
      <p:sp>
        <p:nvSpPr>
          <p:cNvPr id="8" name="object 8"/>
          <p:cNvSpPr txBox="1"/>
          <p:nvPr/>
        </p:nvSpPr>
        <p:spPr>
          <a:xfrm>
            <a:off x="3676015" y="237490"/>
            <a:ext cx="48399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Sandip</a:t>
            </a:r>
            <a:r>
              <a:rPr sz="1800" b="1" spc="-40" dirty="0">
                <a:latin typeface="Times New Roman"/>
                <a:cs typeface="Times New Roman"/>
              </a:rPr>
              <a:t> </a:t>
            </a:r>
            <a:r>
              <a:rPr sz="1800" b="1" spc="-10" dirty="0">
                <a:latin typeface="Times New Roman"/>
                <a:cs typeface="Times New Roman"/>
              </a:rPr>
              <a:t>Foundation’s,</a:t>
            </a:r>
            <a:r>
              <a:rPr sz="1800" b="1" spc="-15" dirty="0">
                <a:latin typeface="Times New Roman"/>
                <a:cs typeface="Times New Roman"/>
              </a:rPr>
              <a:t> </a:t>
            </a:r>
            <a:r>
              <a:rPr sz="1800" b="1" dirty="0">
                <a:latin typeface="Times New Roman"/>
                <a:cs typeface="Times New Roman"/>
              </a:rPr>
              <a:t>Sandip</a:t>
            </a:r>
            <a:r>
              <a:rPr sz="1800" b="1" spc="-35" dirty="0">
                <a:latin typeface="Times New Roman"/>
                <a:cs typeface="Times New Roman"/>
              </a:rPr>
              <a:t> </a:t>
            </a:r>
            <a:r>
              <a:rPr sz="1800" b="1" dirty="0">
                <a:latin typeface="Times New Roman"/>
                <a:cs typeface="Times New Roman"/>
              </a:rPr>
              <a:t>Polytechnic,</a:t>
            </a:r>
            <a:r>
              <a:rPr sz="1800" b="1" spc="-60" dirty="0">
                <a:latin typeface="Times New Roman"/>
                <a:cs typeface="Times New Roman"/>
              </a:rPr>
              <a:t> </a:t>
            </a:r>
            <a:r>
              <a:rPr sz="1800" b="1" spc="-10" dirty="0">
                <a:latin typeface="Times New Roman"/>
                <a:cs typeface="Times New Roman"/>
              </a:rPr>
              <a:t>Nashik</a:t>
            </a:r>
            <a:endParaRPr sz="1800">
              <a:latin typeface="Times New Roman"/>
              <a:cs typeface="Times New Roman"/>
            </a:endParaRPr>
          </a:p>
        </p:txBody>
      </p:sp>
      <p:pic>
        <p:nvPicPr>
          <p:cNvPr id="9" name="object 9"/>
          <p:cNvPicPr/>
          <p:nvPr/>
        </p:nvPicPr>
        <p:blipFill>
          <a:blip r:embed="rId3" cstate="print"/>
          <a:stretch>
            <a:fillRect/>
          </a:stretch>
        </p:blipFill>
        <p:spPr>
          <a:xfrm>
            <a:off x="371375" y="190588"/>
            <a:ext cx="953524" cy="545478"/>
          </a:xfrm>
          <a:prstGeom prst="rect">
            <a:avLst/>
          </a:prstGeom>
        </p:spPr>
      </p:pic>
      <p:pic>
        <p:nvPicPr>
          <p:cNvPr id="11" name="Google Shape;287;p41">
            <a:extLst>
              <a:ext uri="{FF2B5EF4-FFF2-40B4-BE49-F238E27FC236}">
                <a16:creationId xmlns:a16="http://schemas.microsoft.com/office/drawing/2014/main" id="{8FB9D97C-5714-AC1F-0B41-D41F591EBE20}"/>
              </a:ext>
            </a:extLst>
          </p:cNvPr>
          <p:cNvPicPr/>
          <p:nvPr/>
        </p:nvPicPr>
        <p:blipFill>
          <a:blip r:embed="rId4">
            <a:alphaModFix amt="35000"/>
          </a:blip>
          <a:srcRect l="11023" r="13738" b="8154"/>
          <a:stretch/>
        </p:blipFill>
        <p:spPr>
          <a:xfrm rot="19904170">
            <a:off x="5208790" y="2238495"/>
            <a:ext cx="9079428" cy="6493866"/>
          </a:xfrm>
          <a:prstGeom prst="rect">
            <a:avLst/>
          </a:prstGeom>
          <a:noFill/>
          <a:ln w="0">
            <a:noFill/>
          </a:ln>
        </p:spPr>
      </p:pic>
      <p:pic>
        <p:nvPicPr>
          <p:cNvPr id="14" name="Google Shape;287;p41">
            <a:extLst>
              <a:ext uri="{FF2B5EF4-FFF2-40B4-BE49-F238E27FC236}">
                <a16:creationId xmlns:a16="http://schemas.microsoft.com/office/drawing/2014/main" id="{CD4A51F8-F8AA-0D92-01C2-A22E93A626CC}"/>
              </a:ext>
            </a:extLst>
          </p:cNvPr>
          <p:cNvPicPr/>
          <p:nvPr/>
        </p:nvPicPr>
        <p:blipFill>
          <a:blip r:embed="rId4">
            <a:alphaModFix amt="20000"/>
          </a:blip>
          <a:srcRect l="11023" r="13738" b="8154"/>
          <a:stretch/>
        </p:blipFill>
        <p:spPr>
          <a:xfrm rot="3400652">
            <a:off x="-1499656" y="3528416"/>
            <a:ext cx="5435931" cy="5464381"/>
          </a:xfrm>
          <a:prstGeom prst="rect">
            <a:avLst/>
          </a:prstGeom>
          <a:noFill/>
          <a:ln w="0">
            <a:noFill/>
          </a:ln>
        </p:spPr>
      </p:pic>
      <p:sp>
        <p:nvSpPr>
          <p:cNvPr id="10" name="object 10"/>
          <p:cNvSpPr txBox="1">
            <a:spLocks noGrp="1"/>
          </p:cNvSpPr>
          <p:nvPr>
            <p:ph type="title"/>
          </p:nvPr>
        </p:nvSpPr>
        <p:spPr>
          <a:xfrm>
            <a:off x="4790515" y="2792693"/>
            <a:ext cx="2610970" cy="505908"/>
          </a:xfrm>
          <a:prstGeom prst="rect">
            <a:avLst/>
          </a:prstGeom>
        </p:spPr>
        <p:txBody>
          <a:bodyPr vert="horz" wrap="square" lIns="0" tIns="13335" rIns="0" bIns="0" rtlCol="0">
            <a:spAutoFit/>
          </a:bodyPr>
          <a:lstStyle/>
          <a:p>
            <a:pPr marL="12700" marR="5080">
              <a:lnSpc>
                <a:spcPct val="100000"/>
              </a:lnSpc>
              <a:spcBef>
                <a:spcPts val="105"/>
              </a:spcBef>
            </a:pPr>
            <a:r>
              <a:rPr lang="en-US" spc="-10" dirty="0"/>
              <a:t>THANK YOU</a:t>
            </a:r>
            <a:endParaRPr spc="-10" dirty="0"/>
          </a:p>
        </p:txBody>
      </p:sp>
      <p:sp>
        <p:nvSpPr>
          <p:cNvPr id="15" name="object 12">
            <a:extLst>
              <a:ext uri="{FF2B5EF4-FFF2-40B4-BE49-F238E27FC236}">
                <a16:creationId xmlns:a16="http://schemas.microsoft.com/office/drawing/2014/main" id="{72B38199-52A1-E20E-2205-4FCADFC5BB9B}"/>
              </a:ext>
            </a:extLst>
          </p:cNvPr>
          <p:cNvSpPr txBox="1">
            <a:spLocks noGrp="1"/>
          </p:cNvSpPr>
          <p:nvPr>
            <p:ph type="sldNum" sz="quarter" idx="7"/>
          </p:nvPr>
        </p:nvSpPr>
        <p:spPr>
          <a:xfrm>
            <a:off x="11717781" y="6406319"/>
            <a:ext cx="332740" cy="304800"/>
          </a:xfrm>
          <a:prstGeom prst="rect">
            <a:avLst/>
          </a:prstGeom>
        </p:spPr>
        <p:txBody>
          <a:bodyPr vert="horz" wrap="square" lIns="0" tIns="0" rIns="0" bIns="0" rtlCol="0">
            <a:spAutoFit/>
          </a:bodyPr>
          <a:lstStyle/>
          <a:p>
            <a:pPr marL="38100">
              <a:lnSpc>
                <a:spcPts val="2150"/>
              </a:lnSpc>
            </a:pPr>
            <a:fld id="{81D60167-4931-47E6-BA6A-407CBD079E47}" type="slidenum">
              <a:rPr spc="-25" dirty="0"/>
              <a:t>17</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447</TotalTime>
  <Words>987</Words>
  <Application>Microsoft Office PowerPoint</Application>
  <PresentationFormat>Widescreen</PresentationFormat>
  <Paragraphs>165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Black</vt:lpstr>
      <vt:lpstr>Calibri</vt:lpstr>
      <vt:lpstr>Cambria</vt:lpstr>
      <vt:lpstr>Times New Roman</vt:lpstr>
      <vt:lpstr>Trebuchet MS</vt:lpstr>
      <vt:lpstr>Office Theme</vt:lpstr>
      <vt:lpstr>PowerPoint Presentation</vt:lpstr>
      <vt:lpstr>OBE TRACKING SYSTEM</vt:lpstr>
      <vt:lpstr>CONTENTS:</vt:lpstr>
      <vt:lpstr>Sandip Foundation’s, Sandip Polytechnic, Nashik</vt:lpstr>
      <vt:lpstr>PowerPoint Presentation</vt:lpstr>
      <vt:lpstr>Sandip Foundation’s, Sandip Polytechnic, Nashik</vt:lpstr>
      <vt:lpstr>Sandip Foundation’s, Sandip Polytechnic, Nashik</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Soham Deshmukh</dc:creator>
  <cp:lastModifiedBy>ISF Switchgear Components</cp:lastModifiedBy>
  <cp:revision>13</cp:revision>
  <dcterms:created xsi:type="dcterms:W3CDTF">2026-01-13T15:04:24Z</dcterms:created>
  <dcterms:modified xsi:type="dcterms:W3CDTF">2026-04-14T14:21:50Z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2025-10-03T00:00:00Z</vt:filetime>
  </property>
  <property fmtid="{D5CDD505-2E9C-101B-9397-08002B2CF9AE}" pid="3" name="Creator">
    <vt:lpwstr>Microsoft® PowerPoint® 2021</vt:lpwstr>
  </property>
  <property fmtid="{D5CDD505-2E9C-101B-9397-08002B2CF9AE}" pid="4" name="LastSaved">
    <vt:filetime>2026-01-13T00:00:00Z</vt:filetime>
  </property>
  <property fmtid="{D5CDD505-2E9C-101B-9397-08002B2CF9AE}" pid="5" name="Producer">
    <vt:lpwstr>Microsoft® PowerPoint® 2021</vt:lpwstr>
  </property>
</Properties>
</file>